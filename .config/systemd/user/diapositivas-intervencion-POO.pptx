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24" Type="http://schemas.openxmlformats.org/officeDocument/2006/relationships/slide" Target="slides/slide20.xml"/><Relationship Id="rId12" Type="http://schemas.openxmlformats.org/officeDocument/2006/relationships/slide" Target="slides/slide8.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Portada. Presentación personal breve.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"Vamos a empezar con una pregunta: ¿qué los va a diferenciar a ustedes, como ingenieros, de un picacódigo?"</a:t>
            </a:r>
            <a:br>
              <a:rPr lang="en-US"/>
            </a:br>
            <a:r>
              <a:rPr lang="en-US"/>
              <a:t>[Pausa. Tomar una o dos respuestas sin validarlas ni corregirlas.]</a:t>
            </a:r>
            <a:br>
              <a:rPr lang="en-US"/>
            </a:br>
            <a:r>
              <a:rPr lang="en-US"/>
              <a:t>"Guárdense esa respuesta. No la vamos a resolver ahora; la retomamos al final de la clase."</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"Segunda pregunta, más de libro: ¿qué es el encapsulamiento en programación orientada a objetos?"</a:t>
            </a:r>
            <a:br>
              <a:rPr lang="en-US"/>
            </a:br>
            <a:r>
              <a:rPr lang="en-US"/>
              <a:t>[Respuesta esperada: agrupar datos con métodos, o restringir el acceso directo al estado. Se valida.]</a:t>
            </a:r>
            <a:br>
              <a:rPr lang="en-US"/>
            </a:br>
            <a:r>
              <a:rPr lang="en-US"/>
              <a:t>"Correcto. Pero subamos un nivel de abstracción. ¿Qué estamos haciendo realmente cuando encapsulamos? Estamos definiendo un límite y garantizando invariantes. Un invariante es una regla de negocio que el estado de un objeto nunca debe romper."</a:t>
            </a:r>
            <a:endParaRPr/>
          </a:p>
        </p:txBody>
      </p:sp>
      <p:sp>
        <p:nvSpPr>
          <p:cNvPr id="32" name="Google Shape;3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"Un ejemplo simple: una cuenta bancaria con un saldo. El invariante es que el saldo nunca puede quedar negativo. Si el saldo es público, cualquier parte del sistema puede escribirle un menos cien y el invariante se rompe sin que nadie se entere. Si el saldo es privado y la única forma de modificarlo es un método retirar que verifica los fondos, el invariante queda protegido en un solo lugar. El resto del sistema no necesita conocer la regla: solo necesita respetar el límite."</a:t>
            </a:r>
            <a:br>
              <a:rPr lang="en-US"/>
            </a:br>
            <a:r>
              <a:rPr lang="en-US"/>
              <a:t>[Opcional: escribir la clase en vivo.]</a:t>
            </a:r>
            <a:endParaRPr/>
          </a:p>
        </p:txBody>
      </p:sp>
      <p:sp>
        <p:nvSpPr>
          <p:cNvPr id="47" name="Google Shape;4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"Ahora bien, un saldo es un número. Proteger un número ustedes ya saben hacerlo. Pero el mundo real no opera en singular. ¿Qué pasa cuando el estado que hay que proteger no es un número, sino una colección de miles de registros? ¿Dónde viven las reglas? ¿Quién puede tocar qué?"</a:t>
            </a:r>
            <a:br>
              <a:rPr lang="en-US"/>
            </a:br>
            <a:r>
              <a:rPr lang="en-US"/>
              <a:t>[Pausa breve. No se responde.]</a:t>
            </a:r>
            <a:br>
              <a:rPr lang="en-US"/>
            </a:br>
            <a:r>
              <a:rPr lang="en-US"/>
              <a:t>"No me contesten todavía. Lo van a averiguar programando."</a:t>
            </a:r>
            <a:endParaRPr/>
          </a:p>
        </p:txBody>
      </p:sp>
      <p:sp>
        <p:nvSpPr>
          <p:cNvPr id="59" name="Google Shape;5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"Durante el resto de la clase, ustedes son el equipo backend de una billetera virtual. Nos acabamos de conectar a la API de un proveedor internacional que nos manda, todos los días, un lote de transacciones en formato JSON. El equipo de Finanzas necesita métricas de negocio sobre esos lotes."</a:t>
            </a:r>
            <a:endParaRPr/>
          </a:p>
        </p:txBody>
      </p:sp>
      <p:sp>
        <p:nvSpPr>
          <p:cNvPr id="103" name="Google Shape;10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"Cada transacción tiene un id, un monto, una moneda que puede ser pesos o dólares, un estado que puede ser aprobada, rechazada o fraude, y una fecha. Eso es todo lo que necesitan saber del dominio."</a:t>
            </a:r>
            <a:endParaRPr/>
          </a:p>
        </p:txBody>
      </p:sp>
      <p:sp>
        <p:nvSpPr>
          <p:cNvPr id="125" name="Google Shape;12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 van a dividir en grupos, y cada grupo recibe un enlace a TypeScript Playground. La consigna está escrita adentro del enlace. Tres reglas generales. Primera: cada grupo tiene reglas de juego distintas, así que no comenten su consigna con otros grupos. Segunda: no se permite usar IA. Tercera: el código trae verificaciones al final; cuando todas pasan, terminaron."</a:t>
            </a:r>
            <a:endParaRPr/>
          </a:p>
        </p:txBody>
      </p:sp>
      <p:sp>
        <p:nvSpPr>
          <p:cNvPr id="134" name="Google Shape;13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"Esta diapositiva va a quedar proyectada durante toda la actividad. Nadie tiene que acordarse la sintaxis de memoria: el desafío no está ahí."</a:t>
            </a:r>
            <a:br>
              <a:rPr lang="en-US"/>
            </a:br>
            <a:r>
              <a:rPr lang="en-US"/>
              <a:t>Queda proyectada durante RF-001.</a:t>
            </a:r>
            <a:br>
              <a:rPr lang="en-US"/>
            </a:br>
            <a:r>
              <a:rPr lang="en-US"/>
              <a:t>Respuestas preparadas:</a:t>
            </a:r>
            <a:br>
              <a:rPr lang="en-US"/>
            </a:br>
            <a:r>
              <a:rPr lang="en-US"/>
              <a:t>- ¿Por qué no podemos usar clases / bucles? "Es parte de la consigna de su grupo; al final lo charlamos."</a:t>
            </a:r>
            <a:br>
              <a:rPr lang="en-US"/>
            </a:br>
            <a:r>
              <a:rPr lang="en-US"/>
              <a:t>- ¿Después vamos a tener que modificarlo? "Resuelvan lo que pide Finanzas hoy."</a:t>
            </a:r>
            <a:br>
              <a:rPr lang="en-US"/>
            </a:br>
            <a:r>
              <a:rPr lang="en-US"/>
              <a:t>- ¿Cómo devolvemos el arreglo? "Fíjense qué le pide Finanzas a la clase. ¿Finanzas necesita el arreglo, o necesita números?"</a:t>
            </a:r>
            <a:endParaRPr/>
          </a:p>
        </p:txBody>
      </p:sp>
      <p:sp>
        <p:nvSpPr>
          <p:cNvPr id="150" name="Google Shape;15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"Finanzas ha revisado la primera iteración del producto y requiere integrar un ajuste en la lógica de negocio antes del pase a producción."</a:t>
            </a:r>
            <a:br>
              <a:rPr lang="en-US"/>
            </a:br>
            <a:r>
              <a:rPr lang="en-US"/>
              <a:t>Instrucción única: primero pegar el enlace en el buzón de entrega, después abrir el buzón de herencia. Luego avanzar a la diapositiva siguiente (referencia).</a:t>
            </a:r>
            <a:endParaRPr/>
          </a:p>
        </p:txBody>
      </p:sp>
      <p:sp>
        <p:nvSpPr>
          <p:cNvPr id="173" name="Google Shape;17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Queda proyectada durante RF-002.</a:t>
            </a:r>
            <a:endParaRPr/>
          </a:p>
        </p:txBody>
      </p:sp>
      <p:sp>
        <p:nvSpPr>
          <p:cNvPr id="187" name="Google Shape;18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Plenario con mano alzada. Ramas del puente hacia la exposición 2:</a:t>
            </a:r>
            <a:br>
              <a:rPr lang="en-US"/>
            </a:br>
            <a:r>
              <a:rPr lang="en-US"/>
              <a:t>- "Tuve que crear una función": "Acaban de encapsular: tuvieron que inventar el límite que el autor original no había trazado."</a:t>
            </a:r>
            <a:br>
              <a:rPr lang="en-US"/>
            </a:br>
            <a:r>
              <a:rPr lang="en-US"/>
              <a:t>- "Copié el bloque": "Si mañana Finanzas cambia el tipo de cambio, ¿en cuántos lugares lo cambian? ¿Y cuántos se van a olvidar?"</a:t>
            </a:r>
            <a:br>
              <a:rPr lang="en-US"/>
            </a:br>
            <a:r>
              <a:rPr lang="en-US"/>
              <a:t>- "No fue difícil": "El código que heredaron tenía diez líneas. Multipliquen eso por diez mil líneas y veinte desarrolladores que nunca se conocieron."</a:t>
            </a:r>
            <a:br>
              <a:rPr lang="en-US"/>
            </a:br>
            <a:r>
              <a:rPr lang="en-US"/>
              <a:t>- "Solo la instancié": "Pudieron usarla sin entender cómo calcula. Eso es un límite bien puesto."</a:t>
            </a:r>
            <a:br>
              <a:rPr lang="en-US"/>
            </a:br>
            <a:r>
              <a:rPr lang="en-US"/>
              <a:t>- Plenario pobre: "Levanten la mano los que, al heredar el script, lo primero que hicieron fue crear una función."</a:t>
            </a:r>
            <a:endParaRPr/>
          </a:p>
        </p:txBody>
      </p:sp>
      <p:sp>
        <p:nvSpPr>
          <p:cNvPr id="210" name="Google Shape;21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 que hicieron tiene nombre. Cuando envolvemos una colección en una clase propia, no dejamos que nadie toque el arreglo directamente y solo exponemos operaciones de negocio, como totalNetoARS o promedioARS, estamos aplicando un patrón que en la industria se llama Colecciones de Primera Clase.</a:t>
            </a:r>
            <a:br>
              <a:rPr lang="en-US"/>
            </a:br>
            <a:r>
              <a:rPr lang="en-US"/>
              <a:t>¿Y qué es encapsular, en el fondo? No es poner private por costumbre. Es definir un límite y garantizar invariantes. En este problema, los invariantes eran dos: solo cuentan las aprobadas, y todo se expresa en pesos. En una de las soluciones vivían en un solo lugar, protegidos. En la otra, vivían donde cada uno los hubiera escrito."</a:t>
            </a:r>
            <a:endParaRPr/>
          </a:p>
        </p:txBody>
      </p:sp>
      <p:sp>
        <p:nvSpPr>
          <p:cNvPr id="228" name="Google Shape;22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"Ahora, ¿por qué el grupo Arquitectos tenía prohibido escribir un getter? Imaginen que la clase tuviera un método getTransacciones que devolviera el arreglo. En TypeScript los arreglos se pasan por referencia. Quien lo reciba puede hacerle un sort para ordenar su reporte, o un splice para sacar lo que no le interesa, y acaba de modificar el estado interno de la clase sin que nadie se entere. El error no aparece donde se hizo el cambio: aparece en otra punta del sistema, días después. Esa restricción no era un capricho de la consigna. Era el límite."</a:t>
            </a:r>
            <a:br>
              <a:rPr lang="en-US"/>
            </a:br>
            <a:r>
              <a:rPr lang="en-US"/>
              <a:t>[Versión extendida: mostrar la diapositiva de respaldo del constructor.]</a:t>
            </a:r>
            <a:endParaRPr/>
          </a:p>
        </p:txBody>
      </p:sp>
      <p:sp>
        <p:nvSpPr>
          <p:cNvPr id="245" name="Google Shape;24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"Hoy fue un arreglo de siete transacciones. Mañana es el dataset de entrenamiento de un modelo que nadie debería poder alterar por accidente, o la matriz de adyacencia de la que depende el enrutamiento de una red. La escala cambia; el principio es el mismo."</a:t>
            </a:r>
            <a:br>
              <a:rPr lang="en-US"/>
            </a:br>
            <a:r>
              <a:rPr lang="en-US"/>
              <a:t>[Versión extendida: "¿En qué otro lugar de lo que están cursando hay una colección que debería protegerse así?"]</a:t>
            </a:r>
            <a:endParaRPr/>
          </a:p>
        </p:txBody>
      </p:sp>
      <p:sp>
        <p:nvSpPr>
          <p:cNvPr id="257" name="Google Shape;25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 principio les pregunté qué los diferencia de un picacódigo. El filter, el map y el reduce los puede escribir cualquiera, y hoy también una IA en un segundo. Lo que ninguna herramienta decide por ustedes es dónde va el límite: qué se protege, qué se expone y qué reglas no se pueden romper. Ese es el trabajo del ingeniero."</a:t>
            </a:r>
            <a:endParaRPr/>
          </a:p>
        </p:txBody>
      </p:sp>
      <p:sp>
        <p:nvSpPr>
          <p:cNvPr id="275" name="Google Shape;27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 de la presentación. Las diapositivas siguientes son de respaldo.</a:t>
            </a:r>
            <a:endParaRPr/>
          </a:p>
        </p:txBody>
      </p:sp>
      <p:sp>
        <p:nvSpPr>
          <p:cNvPr id="283" name="Google Shape;28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Solo para la versión extendida del bloque de getters.</a:t>
            </a:r>
            <a:br>
              <a:rPr lang="en-US"/>
            </a:br>
            <a:r>
              <a:rPr lang="en-US"/>
              <a:t>La versión A guarda la referencia: quien creó el arreglo puede seguir modificándolo desde afuera y alterar el estado de la clase. La versión B guarda una copia. Es la misma fuga de referencia, pero en la entrada en lugar de la salida.</a:t>
            </a:r>
            <a:endParaRPr/>
          </a:p>
        </p:txBody>
      </p:sp>
      <p:sp>
        <p:nvSpPr>
          <p:cNvPr id="292" name="Google Shape;29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Plan B si no hay tiempo para RF-002.</a:t>
            </a:r>
            <a:br>
              <a:rPr lang="en-US"/>
            </a:br>
            <a:r>
              <a:rPr lang="en-US"/>
              <a:t>Proyectar sin explicar. Pedir que respondan a mano alzada o en voz alta por grupo: qué cambiarían en cada solución y cuántos lugares tocarían. Recién después pasar a la diapositiva siguiente.</a:t>
            </a:r>
            <a:endParaRPr/>
          </a:p>
        </p:txBody>
      </p:sp>
      <p:sp>
        <p:nvSpPr>
          <p:cNvPr id="306" name="Google Shape;30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Mostrar después de que el aula haya respondido. Contraste: en el script, lo resaltado es el trabajo de abstracción que hubo que hacer antes de poder avanzar. En la clase, la lógica no cambia. Si alguien propone promediar los dos promedios, retomar como invariante roto: el promedio combinado es 791.625, no 636.500.</a:t>
            </a:r>
            <a:endParaRPr/>
          </a:p>
        </p:txBody>
      </p:sp>
      <p:sp>
        <p:nvSpPr>
          <p:cNvPr id="322" name="Google Shape;32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 name="Shape 15"/>
        <p:cNvGrpSpPr/>
        <p:nvPr/>
      </p:nvGrpSpPr>
      <p:grpSpPr>
        <a:xfrm>
          <a:off x="0" y="0"/>
          <a:ext cx="0" cy="0"/>
          <a:chOff x="0" y="0"/>
          <a:chExt cx="0" cy="0"/>
        </a:xfrm>
      </p:grpSpPr>
      <p:sp>
        <p:nvSpPr>
          <p:cNvPr id="16" name="Google Shape;16;p3"/>
          <p:cNvSpPr txBox="1"/>
          <p:nvPr/>
        </p:nvSpPr>
        <p:spPr>
          <a:xfrm>
            <a:off x="7589520" y="822960"/>
            <a:ext cx="4480560" cy="5120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73444"/>
              </a:buClr>
              <a:buSzPts val="20000"/>
              <a:buFont typeface="Courier New"/>
              <a:buNone/>
            </a:pPr>
            <a:r>
              <a:rPr b="1" i="0" lang="en-US" sz="20000" u="none" cap="none" strike="noStrike">
                <a:solidFill>
                  <a:srgbClr val="273444"/>
                </a:solidFill>
                <a:latin typeface="Courier New"/>
                <a:ea typeface="Courier New"/>
                <a:cs typeface="Courier New"/>
                <a:sym typeface="Courier New"/>
              </a:rPr>
              <a:t>{}</a:t>
            </a:r>
            <a:endParaRPr b="0" i="0" sz="20000" u="none" cap="none" strike="noStrike">
              <a:solidFill>
                <a:schemeClr val="dk1"/>
              </a:solidFill>
              <a:latin typeface="Calibri"/>
              <a:ea typeface="Calibri"/>
              <a:cs typeface="Calibri"/>
              <a:sym typeface="Calibri"/>
            </a:endParaRPr>
          </a:p>
        </p:txBody>
      </p:sp>
      <p:sp>
        <p:nvSpPr>
          <p:cNvPr id="17" name="Google Shape;17;p3"/>
          <p:cNvSpPr txBox="1"/>
          <p:nvPr/>
        </p:nvSpPr>
        <p:spPr>
          <a:xfrm>
            <a:off x="822960" y="1554480"/>
            <a:ext cx="73152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9B2D"/>
              </a:buClr>
              <a:buSzPts val="2000"/>
              <a:buFont typeface="Calibri"/>
              <a:buNone/>
            </a:pPr>
            <a:r>
              <a:rPr b="1" i="0" lang="en-US" sz="2000" u="none" cap="none" strike="noStrike">
                <a:solidFill>
                  <a:srgbClr val="E39B2D"/>
                </a:solidFill>
                <a:latin typeface="Calibri"/>
                <a:ea typeface="Calibri"/>
                <a:cs typeface="Calibri"/>
                <a:sym typeface="Calibri"/>
              </a:rPr>
              <a:t>Paradigmas y Lenguajes de Programación II</a:t>
            </a:r>
            <a:endParaRPr b="1" i="0" sz="2000" u="none" cap="none" strike="noStrike">
              <a:solidFill>
                <a:schemeClr val="dk1"/>
              </a:solidFill>
              <a:latin typeface="Calibri"/>
              <a:ea typeface="Calibri"/>
              <a:cs typeface="Calibri"/>
              <a:sym typeface="Calibri"/>
            </a:endParaRPr>
          </a:p>
        </p:txBody>
      </p:sp>
      <p:sp>
        <p:nvSpPr>
          <p:cNvPr id="18" name="Google Shape;18;p3"/>
          <p:cNvSpPr txBox="1"/>
          <p:nvPr/>
        </p:nvSpPr>
        <p:spPr>
          <a:xfrm>
            <a:off x="822960" y="2057400"/>
            <a:ext cx="73152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5200"/>
              <a:buFont typeface="Arial"/>
              <a:buNone/>
            </a:pPr>
            <a:r>
              <a:rPr b="1" i="0" lang="en-US" sz="5200" u="none" cap="none" strike="noStrike">
                <a:solidFill>
                  <a:schemeClr val="dk1"/>
                </a:solidFill>
                <a:latin typeface="Arial"/>
                <a:ea typeface="Arial"/>
                <a:cs typeface="Arial"/>
                <a:sym typeface="Arial"/>
              </a:rPr>
              <a:t>POO en TypeScript</a:t>
            </a:r>
            <a:endParaRPr b="0" i="0" sz="5200" u="none" cap="none" strike="noStrike">
              <a:solidFill>
                <a:schemeClr val="dk1"/>
              </a:solidFill>
              <a:latin typeface="Calibri"/>
              <a:ea typeface="Calibri"/>
              <a:cs typeface="Calibri"/>
              <a:sym typeface="Calibri"/>
            </a:endParaRPr>
          </a:p>
        </p:txBody>
      </p:sp>
      <p:sp>
        <p:nvSpPr>
          <p:cNvPr id="19" name="Google Shape;19;p3"/>
          <p:cNvSpPr txBox="1"/>
          <p:nvPr/>
        </p:nvSpPr>
        <p:spPr>
          <a:xfrm>
            <a:off x="822960" y="3017520"/>
            <a:ext cx="73152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3CEDA"/>
              </a:buClr>
              <a:buSzPts val="3200"/>
              <a:buFont typeface="Calibri"/>
              <a:buNone/>
            </a:pPr>
            <a:r>
              <a:rPr b="0" i="0" lang="en-US" sz="3200" u="none" cap="none" strike="noStrike">
                <a:solidFill>
                  <a:schemeClr val="dk2"/>
                </a:solidFill>
                <a:latin typeface="Calibri"/>
                <a:ea typeface="Calibri"/>
                <a:cs typeface="Calibri"/>
                <a:sym typeface="Calibri"/>
              </a:rPr>
              <a:t>Límites e invariantes</a:t>
            </a:r>
            <a:endParaRPr b="0" i="0" sz="3200" u="none" cap="none" strike="noStrike">
              <a:solidFill>
                <a:schemeClr val="dk2"/>
              </a:solidFill>
              <a:latin typeface="Calibri"/>
              <a:ea typeface="Calibri"/>
              <a:cs typeface="Calibri"/>
              <a:sym typeface="Calibri"/>
            </a:endParaRPr>
          </a:p>
        </p:txBody>
      </p:sp>
      <p:sp>
        <p:nvSpPr>
          <p:cNvPr id="20" name="Google Shape;20;p3"/>
          <p:cNvSpPr txBox="1"/>
          <p:nvPr/>
        </p:nvSpPr>
        <p:spPr>
          <a:xfrm>
            <a:off x="822960" y="5029200"/>
            <a:ext cx="73152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0" i="0" lang="en-US" sz="2000" u="none" cap="none" strike="noStrike">
                <a:solidFill>
                  <a:schemeClr val="dk1"/>
                </a:solidFill>
                <a:latin typeface="Calibri"/>
                <a:ea typeface="Calibri"/>
                <a:cs typeface="Calibri"/>
                <a:sym typeface="Calibri"/>
              </a:rPr>
              <a:t>Gabriel S. Martinez A.</a:t>
            </a:r>
            <a:endParaRPr b="0" i="0" sz="2000" u="none" cap="none" strike="noStrike">
              <a:solidFill>
                <a:schemeClr val="dk1"/>
              </a:solidFill>
              <a:latin typeface="Calibri"/>
              <a:ea typeface="Calibri"/>
              <a:cs typeface="Calibri"/>
              <a:sym typeface="Calibri"/>
            </a:endParaRPr>
          </a:p>
        </p:txBody>
      </p:sp>
      <p:sp>
        <p:nvSpPr>
          <p:cNvPr id="21" name="Google Shape;21;p3"/>
          <p:cNvSpPr txBox="1"/>
          <p:nvPr/>
        </p:nvSpPr>
        <p:spPr>
          <a:xfrm>
            <a:off x="822960" y="5440680"/>
            <a:ext cx="8229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3CEDA"/>
              </a:buClr>
              <a:buSzPts val="1400"/>
              <a:buFont typeface="Calibri"/>
              <a:buNone/>
            </a:pPr>
            <a:r>
              <a:rPr b="0" i="0" lang="en-US" sz="1400" u="none" cap="none" strike="noStrike">
                <a:solidFill>
                  <a:schemeClr val="dk2"/>
                </a:solidFill>
                <a:latin typeface="Calibri"/>
                <a:ea typeface="Calibri"/>
                <a:cs typeface="Calibri"/>
                <a:sym typeface="Calibri"/>
              </a:rPr>
              <a:t>Universidad de la Cuenca del Plata · Práctica Profesional Supervisada II</a:t>
            </a:r>
            <a:endParaRPr b="0" i="0" sz="1400" u="none" cap="none" strike="noStrike">
              <a:solidFill>
                <a:schemeClr val="dk2"/>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 name="Shape 26"/>
        <p:cNvGrpSpPr/>
        <p:nvPr/>
      </p:nvGrpSpPr>
      <p:grpSpPr>
        <a:xfrm>
          <a:off x="0" y="0"/>
          <a:ext cx="0" cy="0"/>
          <a:chOff x="0" y="0"/>
          <a:chExt cx="0" cy="0"/>
        </a:xfrm>
      </p:grpSpPr>
      <p:sp>
        <p:nvSpPr>
          <p:cNvPr id="27" name="Google Shape;27;p4"/>
          <p:cNvSpPr txBox="1"/>
          <p:nvPr/>
        </p:nvSpPr>
        <p:spPr>
          <a:xfrm>
            <a:off x="7589520" y="822960"/>
            <a:ext cx="4480560" cy="5120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73444"/>
              </a:buClr>
              <a:buSzPts val="20000"/>
              <a:buFont typeface="Courier New"/>
              <a:buNone/>
            </a:pPr>
            <a:r>
              <a:rPr b="1" i="0" lang="en-US" sz="20000" u="none" cap="none" strike="noStrike">
                <a:solidFill>
                  <a:srgbClr val="273444"/>
                </a:solidFill>
                <a:latin typeface="Courier New"/>
                <a:ea typeface="Courier New"/>
                <a:cs typeface="Courier New"/>
                <a:sym typeface="Courier New"/>
              </a:rPr>
              <a:t>{}</a:t>
            </a:r>
            <a:endParaRPr b="0" i="0" sz="20000" u="none" cap="none" strike="noStrike">
              <a:solidFill>
                <a:schemeClr val="dk1"/>
              </a:solidFill>
              <a:latin typeface="Calibri"/>
              <a:ea typeface="Calibri"/>
              <a:cs typeface="Calibri"/>
              <a:sym typeface="Calibri"/>
            </a:endParaRPr>
          </a:p>
        </p:txBody>
      </p:sp>
      <p:sp>
        <p:nvSpPr>
          <p:cNvPr id="28" name="Google Shape;28;p4"/>
          <p:cNvSpPr txBox="1"/>
          <p:nvPr/>
        </p:nvSpPr>
        <p:spPr>
          <a:xfrm>
            <a:off x="822960" y="1828800"/>
            <a:ext cx="7498080" cy="2743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000"/>
              <a:buFont typeface="Arial"/>
              <a:buNone/>
            </a:pPr>
            <a:r>
              <a:rPr b="1" i="0" lang="en-US" sz="5000" u="none" cap="none" strike="noStrike">
                <a:solidFill>
                  <a:schemeClr val="dk1"/>
                </a:solidFill>
                <a:latin typeface="Arial"/>
                <a:ea typeface="Arial"/>
                <a:cs typeface="Arial"/>
                <a:sym typeface="Arial"/>
              </a:rPr>
              <a:t>¿Qué los va a diferenciar de un picacódigo?</a:t>
            </a:r>
            <a:endParaRPr b="0" i="0" sz="5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 name="Shape 33"/>
        <p:cNvGrpSpPr/>
        <p:nvPr/>
      </p:nvGrpSpPr>
      <p:grpSpPr>
        <a:xfrm>
          <a:off x="0" y="0"/>
          <a:ext cx="0" cy="0"/>
          <a:chOff x="0" y="0"/>
          <a:chExt cx="0" cy="0"/>
        </a:xfrm>
      </p:grpSpPr>
      <p:sp>
        <p:nvSpPr>
          <p:cNvPr id="34" name="Google Shape;34;p5"/>
          <p:cNvSpPr txBox="1"/>
          <p:nvPr/>
        </p:nvSpPr>
        <p:spPr>
          <a:xfrm>
            <a:off x="548640" y="411480"/>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3400"/>
              <a:buFont typeface="Arial"/>
              <a:buNone/>
            </a:pPr>
            <a:r>
              <a:rPr b="1" i="0" lang="en-US" sz="3400" u="none" cap="none" strike="noStrike">
                <a:solidFill>
                  <a:srgbClr val="1C2733"/>
                </a:solidFill>
                <a:latin typeface="Arial"/>
                <a:ea typeface="Arial"/>
                <a:cs typeface="Arial"/>
                <a:sym typeface="Arial"/>
              </a:rPr>
              <a:t>Encapsulamiento</a:t>
            </a:r>
            <a:endParaRPr b="0" i="0" sz="3400" u="none" cap="none" strike="noStrike">
              <a:solidFill>
                <a:schemeClr val="dk1"/>
              </a:solidFill>
              <a:latin typeface="Calibri"/>
              <a:ea typeface="Calibri"/>
              <a:cs typeface="Calibri"/>
              <a:sym typeface="Calibri"/>
            </a:endParaRPr>
          </a:p>
        </p:txBody>
      </p:sp>
      <p:sp>
        <p:nvSpPr>
          <p:cNvPr id="35" name="Google Shape;35;p5"/>
          <p:cNvSpPr txBox="1"/>
          <p:nvPr/>
        </p:nvSpPr>
        <p:spPr>
          <a:xfrm>
            <a:off x="548640" y="1325880"/>
            <a:ext cx="110642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7A"/>
              </a:buClr>
              <a:buSzPts val="2000"/>
              <a:buFont typeface="Calibri"/>
              <a:buNone/>
            </a:pPr>
            <a:r>
              <a:rPr b="0" i="1" lang="en-US" sz="2000" u="none" cap="none" strike="noStrike">
                <a:solidFill>
                  <a:srgbClr val="5B6B7A"/>
                </a:solidFill>
                <a:latin typeface="Calibri"/>
                <a:ea typeface="Calibri"/>
                <a:cs typeface="Calibri"/>
                <a:sym typeface="Calibri"/>
              </a:rPr>
              <a:t>De libro: agrupar datos con los métodos que operan sobre ellos, y restringir el acceso directo al estado de un objeto.</a:t>
            </a:r>
            <a:endParaRPr b="0" i="0" sz="2000" u="none" cap="none" strike="noStrike">
              <a:solidFill>
                <a:schemeClr val="dk1"/>
              </a:solidFill>
              <a:latin typeface="Calibri"/>
              <a:ea typeface="Calibri"/>
              <a:cs typeface="Calibri"/>
              <a:sym typeface="Calibri"/>
            </a:endParaRPr>
          </a:p>
        </p:txBody>
      </p:sp>
      <p:sp>
        <p:nvSpPr>
          <p:cNvPr id="36" name="Google Shape;36;p5"/>
          <p:cNvSpPr/>
          <p:nvPr/>
        </p:nvSpPr>
        <p:spPr>
          <a:xfrm>
            <a:off x="548640" y="2286000"/>
            <a:ext cx="11064240" cy="1554480"/>
          </a:xfrm>
          <a:prstGeom prst="roundRect">
            <a:avLst>
              <a:gd fmla="val 7059"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txBox="1"/>
          <p:nvPr/>
        </p:nvSpPr>
        <p:spPr>
          <a:xfrm>
            <a:off x="914400" y="2286000"/>
            <a:ext cx="10332720" cy="1554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3400"/>
              <a:buFont typeface="Arial"/>
              <a:buNone/>
            </a:pPr>
            <a:r>
              <a:rPr b="1" i="0" lang="en-US" sz="3400" u="none" cap="none" strike="noStrike">
                <a:solidFill>
                  <a:srgbClr val="1C2733"/>
                </a:solidFill>
                <a:latin typeface="Arial"/>
                <a:ea typeface="Arial"/>
                <a:cs typeface="Arial"/>
                <a:sym typeface="Arial"/>
              </a:rPr>
              <a:t>Encapsular = definir un </a:t>
            </a:r>
            <a:r>
              <a:rPr b="1" i="0" lang="en-US" sz="3400" u="none" cap="none" strike="noStrike">
                <a:solidFill>
                  <a:srgbClr val="E39B2D"/>
                </a:solidFill>
                <a:latin typeface="Arial"/>
                <a:ea typeface="Arial"/>
                <a:cs typeface="Arial"/>
                <a:sym typeface="Arial"/>
              </a:rPr>
              <a:t>límite</a:t>
            </a:r>
            <a:r>
              <a:rPr b="1" i="0" lang="en-US" sz="3400" u="none" cap="none" strike="noStrike">
                <a:solidFill>
                  <a:srgbClr val="1C2733"/>
                </a:solidFill>
                <a:latin typeface="Arial"/>
                <a:ea typeface="Arial"/>
                <a:cs typeface="Arial"/>
                <a:sym typeface="Arial"/>
              </a:rPr>
              <a:t> y garantizar </a:t>
            </a:r>
            <a:r>
              <a:rPr b="1" i="0" lang="en-US" sz="3400" u="none" cap="none" strike="noStrike">
                <a:solidFill>
                  <a:srgbClr val="E39B2D"/>
                </a:solidFill>
                <a:latin typeface="Arial"/>
                <a:ea typeface="Arial"/>
                <a:cs typeface="Arial"/>
                <a:sym typeface="Arial"/>
              </a:rPr>
              <a:t>invariantes</a:t>
            </a:r>
            <a:endParaRPr b="0" i="0" sz="3400" u="none" cap="none" strike="noStrike">
              <a:solidFill>
                <a:schemeClr val="dk1"/>
              </a:solidFill>
              <a:latin typeface="Calibri"/>
              <a:ea typeface="Calibri"/>
              <a:cs typeface="Calibri"/>
              <a:sym typeface="Calibri"/>
            </a:endParaRPr>
          </a:p>
        </p:txBody>
      </p:sp>
      <p:sp>
        <p:nvSpPr>
          <p:cNvPr id="38" name="Google Shape;38;p5"/>
          <p:cNvSpPr/>
          <p:nvPr/>
        </p:nvSpPr>
        <p:spPr>
          <a:xfrm>
            <a:off x="548640" y="4206240"/>
            <a:ext cx="5394960" cy="1920240"/>
          </a:xfrm>
          <a:prstGeom prst="roundRect">
            <a:avLst>
              <a:gd fmla="val 5714"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a:off x="6217920" y="4206240"/>
            <a:ext cx="5394960" cy="1920240"/>
          </a:xfrm>
          <a:prstGeom prst="roundRect">
            <a:avLst>
              <a:gd fmla="val 5714"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5"/>
          <p:cNvSpPr txBox="1"/>
          <p:nvPr/>
        </p:nvSpPr>
        <p:spPr>
          <a:xfrm>
            <a:off x="914400" y="4480560"/>
            <a:ext cx="46634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9B2D"/>
              </a:buClr>
              <a:buSzPts val="2200"/>
              <a:buFont typeface="Arial"/>
              <a:buNone/>
            </a:pPr>
            <a:r>
              <a:rPr b="1" i="0" lang="en-US" sz="2200" u="none" cap="none" strike="noStrike">
                <a:solidFill>
                  <a:srgbClr val="E39B2D"/>
                </a:solidFill>
                <a:latin typeface="Arial"/>
                <a:ea typeface="Arial"/>
                <a:cs typeface="Arial"/>
                <a:sym typeface="Arial"/>
              </a:rPr>
              <a:t>Límite</a:t>
            </a:r>
            <a:endParaRPr b="0" i="0" sz="2200" u="none" cap="none" strike="noStrike">
              <a:solidFill>
                <a:schemeClr val="dk1"/>
              </a:solidFill>
              <a:latin typeface="Calibri"/>
              <a:ea typeface="Calibri"/>
              <a:cs typeface="Calibri"/>
              <a:sym typeface="Calibri"/>
            </a:endParaRPr>
          </a:p>
        </p:txBody>
      </p:sp>
      <p:sp>
        <p:nvSpPr>
          <p:cNvPr id="41" name="Google Shape;41;p5"/>
          <p:cNvSpPr txBox="1"/>
          <p:nvPr/>
        </p:nvSpPr>
        <p:spPr>
          <a:xfrm>
            <a:off x="914400" y="4983480"/>
            <a:ext cx="46634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733"/>
              </a:buClr>
              <a:buSzPts val="2200"/>
              <a:buFont typeface="Calibri"/>
              <a:buNone/>
            </a:pPr>
            <a:r>
              <a:rPr b="0" i="0" lang="en-US" sz="2200" u="none" cap="none" strike="noStrike">
                <a:solidFill>
                  <a:srgbClr val="1C2733"/>
                </a:solidFill>
                <a:latin typeface="Calibri"/>
                <a:ea typeface="Calibri"/>
                <a:cs typeface="Calibri"/>
                <a:sym typeface="Calibri"/>
              </a:rPr>
              <a:t>Qué se puede tocar desde afuera y qué no.</a:t>
            </a:r>
            <a:endParaRPr b="0" i="0" sz="2200" u="none" cap="none" strike="noStrike">
              <a:solidFill>
                <a:schemeClr val="dk1"/>
              </a:solidFill>
              <a:latin typeface="Calibri"/>
              <a:ea typeface="Calibri"/>
              <a:cs typeface="Calibri"/>
              <a:sym typeface="Calibri"/>
            </a:endParaRPr>
          </a:p>
        </p:txBody>
      </p:sp>
      <p:sp>
        <p:nvSpPr>
          <p:cNvPr id="42" name="Google Shape;42;p5"/>
          <p:cNvSpPr txBox="1"/>
          <p:nvPr/>
        </p:nvSpPr>
        <p:spPr>
          <a:xfrm>
            <a:off x="6583680" y="4480560"/>
            <a:ext cx="46634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9B2D"/>
              </a:buClr>
              <a:buSzPts val="2200"/>
              <a:buFont typeface="Arial"/>
              <a:buNone/>
            </a:pPr>
            <a:r>
              <a:rPr b="1" i="0" lang="en-US" sz="2200" u="none" cap="none" strike="noStrike">
                <a:solidFill>
                  <a:srgbClr val="E39B2D"/>
                </a:solidFill>
                <a:latin typeface="Arial"/>
                <a:ea typeface="Arial"/>
                <a:cs typeface="Arial"/>
                <a:sym typeface="Arial"/>
              </a:rPr>
              <a:t>Invariante</a:t>
            </a:r>
            <a:endParaRPr b="0" i="0" sz="2200" u="none" cap="none" strike="noStrike">
              <a:solidFill>
                <a:schemeClr val="dk1"/>
              </a:solidFill>
              <a:latin typeface="Calibri"/>
              <a:ea typeface="Calibri"/>
              <a:cs typeface="Calibri"/>
              <a:sym typeface="Calibri"/>
            </a:endParaRPr>
          </a:p>
        </p:txBody>
      </p:sp>
      <p:sp>
        <p:nvSpPr>
          <p:cNvPr id="43" name="Google Shape;43;p5"/>
          <p:cNvSpPr txBox="1"/>
          <p:nvPr/>
        </p:nvSpPr>
        <p:spPr>
          <a:xfrm>
            <a:off x="6583680" y="4983480"/>
            <a:ext cx="46634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733"/>
              </a:buClr>
              <a:buSzPts val="2200"/>
              <a:buFont typeface="Calibri"/>
              <a:buNone/>
            </a:pPr>
            <a:r>
              <a:rPr b="0" i="0" lang="en-US" sz="2200" u="none" cap="none" strike="noStrike">
                <a:solidFill>
                  <a:srgbClr val="1C2733"/>
                </a:solidFill>
                <a:latin typeface="Calibri"/>
                <a:ea typeface="Calibri"/>
                <a:cs typeface="Calibri"/>
                <a:sym typeface="Calibri"/>
              </a:rPr>
              <a:t>Regla de negocio que el estado nunca debe romper.</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 name="Shape 48"/>
        <p:cNvGrpSpPr/>
        <p:nvPr/>
      </p:nvGrpSpPr>
      <p:grpSpPr>
        <a:xfrm>
          <a:off x="0" y="0"/>
          <a:ext cx="0" cy="0"/>
          <a:chOff x="0" y="0"/>
          <a:chExt cx="0" cy="0"/>
        </a:xfrm>
      </p:grpSpPr>
      <p:sp>
        <p:nvSpPr>
          <p:cNvPr id="49" name="Google Shape;49;p6"/>
          <p:cNvSpPr txBox="1"/>
          <p:nvPr/>
        </p:nvSpPr>
        <p:spPr>
          <a:xfrm>
            <a:off x="548640" y="411480"/>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3400"/>
              <a:buFont typeface="Arial"/>
              <a:buNone/>
            </a:pPr>
            <a:r>
              <a:rPr b="1" i="0" lang="en-US" sz="3400" u="none" cap="none" strike="noStrike">
                <a:solidFill>
                  <a:srgbClr val="1C2733"/>
                </a:solidFill>
                <a:latin typeface="Arial"/>
                <a:ea typeface="Arial"/>
                <a:cs typeface="Arial"/>
                <a:sym typeface="Arial"/>
              </a:rPr>
              <a:t>Ejemplo: una cuenta bancaria</a:t>
            </a:r>
            <a:endParaRPr b="0" i="0" sz="3400" u="none" cap="none" strike="noStrike">
              <a:solidFill>
                <a:schemeClr val="dk1"/>
              </a:solidFill>
              <a:latin typeface="Calibri"/>
              <a:ea typeface="Calibri"/>
              <a:cs typeface="Calibri"/>
              <a:sym typeface="Calibri"/>
            </a:endParaRPr>
          </a:p>
        </p:txBody>
      </p:sp>
      <p:sp>
        <p:nvSpPr>
          <p:cNvPr id="50" name="Google Shape;50;p6"/>
          <p:cNvSpPr/>
          <p:nvPr/>
        </p:nvSpPr>
        <p:spPr>
          <a:xfrm>
            <a:off x="548640" y="1463040"/>
            <a:ext cx="4206240" cy="4572000"/>
          </a:xfrm>
          <a:prstGeom prst="roundRect">
            <a:avLst>
              <a:gd fmla="val 2609"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txBox="1"/>
          <p:nvPr/>
        </p:nvSpPr>
        <p:spPr>
          <a:xfrm>
            <a:off x="914400" y="1783080"/>
            <a:ext cx="34747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9B2D"/>
              </a:buClr>
              <a:buSzPts val="2200"/>
              <a:buFont typeface="Arial"/>
              <a:buNone/>
            </a:pPr>
            <a:r>
              <a:rPr b="1" i="0" lang="en-US" sz="2200" u="none" cap="none" strike="noStrike">
                <a:solidFill>
                  <a:srgbClr val="E39B2D"/>
                </a:solidFill>
                <a:latin typeface="Arial"/>
                <a:ea typeface="Arial"/>
                <a:cs typeface="Arial"/>
                <a:sym typeface="Arial"/>
              </a:rPr>
              <a:t>Invariante</a:t>
            </a:r>
            <a:endParaRPr b="0" i="0" sz="2200" u="none" cap="none" strike="noStrike">
              <a:solidFill>
                <a:schemeClr val="dk1"/>
              </a:solidFill>
              <a:latin typeface="Calibri"/>
              <a:ea typeface="Calibri"/>
              <a:cs typeface="Calibri"/>
              <a:sym typeface="Calibri"/>
            </a:endParaRPr>
          </a:p>
        </p:txBody>
      </p:sp>
      <p:sp>
        <p:nvSpPr>
          <p:cNvPr id="52" name="Google Shape;52;p6"/>
          <p:cNvSpPr txBox="1"/>
          <p:nvPr/>
        </p:nvSpPr>
        <p:spPr>
          <a:xfrm>
            <a:off x="914400" y="2286000"/>
            <a:ext cx="3474720"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733"/>
              </a:buClr>
              <a:buSzPts val="3000"/>
              <a:buFont typeface="Arial"/>
              <a:buNone/>
            </a:pPr>
            <a:r>
              <a:rPr b="1" i="0" lang="en-US" sz="3000" u="none" cap="none" strike="noStrike">
                <a:solidFill>
                  <a:srgbClr val="1C2733"/>
                </a:solidFill>
                <a:latin typeface="Arial"/>
                <a:ea typeface="Arial"/>
                <a:cs typeface="Arial"/>
                <a:sym typeface="Arial"/>
              </a:rPr>
              <a:t>El saldo nunca puede ser negativo.</a:t>
            </a:r>
            <a:endParaRPr b="0" i="0" sz="3000" u="none" cap="none" strike="noStrike">
              <a:solidFill>
                <a:schemeClr val="dk1"/>
              </a:solidFill>
              <a:latin typeface="Calibri"/>
              <a:ea typeface="Calibri"/>
              <a:cs typeface="Calibri"/>
              <a:sym typeface="Calibri"/>
            </a:endParaRPr>
          </a:p>
        </p:txBody>
      </p:sp>
      <p:sp>
        <p:nvSpPr>
          <p:cNvPr id="53" name="Google Shape;53;p6"/>
          <p:cNvSpPr txBox="1"/>
          <p:nvPr/>
        </p:nvSpPr>
        <p:spPr>
          <a:xfrm>
            <a:off x="914400" y="4114800"/>
            <a:ext cx="3474720"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7A"/>
              </a:buClr>
              <a:buSzPts val="2000"/>
              <a:buFont typeface="Calibri"/>
              <a:buNone/>
            </a:pPr>
            <a:r>
              <a:rPr b="0" i="0" lang="en-US" sz="2000" u="none" cap="none" strike="noStrike">
                <a:solidFill>
                  <a:srgbClr val="5B6B7A"/>
                </a:solidFill>
                <a:latin typeface="Calibri"/>
                <a:ea typeface="Calibri"/>
                <a:cs typeface="Calibri"/>
                <a:sym typeface="Calibri"/>
              </a:rPr>
              <a:t>La regla vive en un solo lugar: el único método que puede modificar el saldo.</a:t>
            </a:r>
            <a:endParaRPr b="0" i="0" sz="2000" u="none" cap="none" strike="noStrike">
              <a:solidFill>
                <a:schemeClr val="dk1"/>
              </a:solidFill>
              <a:latin typeface="Calibri"/>
              <a:ea typeface="Calibri"/>
              <a:cs typeface="Calibri"/>
              <a:sym typeface="Calibri"/>
            </a:endParaRPr>
          </a:p>
        </p:txBody>
      </p:sp>
      <p:sp>
        <p:nvSpPr>
          <p:cNvPr id="54" name="Google Shape;54;p6"/>
          <p:cNvSpPr/>
          <p:nvPr/>
        </p:nvSpPr>
        <p:spPr>
          <a:xfrm>
            <a:off x="5120640" y="1463040"/>
            <a:ext cx="6492240" cy="4572000"/>
          </a:xfrm>
          <a:prstGeom prst="roundRect">
            <a:avLst>
              <a:gd fmla="val 2400" name="adj"/>
            </a:avLst>
          </a:prstGeom>
          <a:solidFill>
            <a:srgbClr val="1F2A36"/>
          </a:solidFill>
          <a:ln cap="flat" cmpd="sng" w="12700">
            <a:solidFill>
              <a:srgbClr val="1F2A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6"/>
          <p:cNvSpPr txBox="1"/>
          <p:nvPr/>
        </p:nvSpPr>
        <p:spPr>
          <a:xfrm>
            <a:off x="5394960" y="1691640"/>
            <a:ext cx="5943600" cy="4114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E8EDF2"/>
              </a:buClr>
              <a:buSzPts val="2000"/>
              <a:buFont typeface="Courier New"/>
              <a:buNone/>
            </a:pPr>
            <a:r>
              <a:rPr b="0" i="0" lang="en-US" sz="2000" u="none" cap="none" strike="noStrike">
                <a:solidFill>
                  <a:srgbClr val="E8EDF2"/>
                </a:solidFill>
                <a:latin typeface="Courier New"/>
                <a:ea typeface="Courier New"/>
                <a:cs typeface="Courier New"/>
                <a:sym typeface="Courier New"/>
              </a:rPr>
              <a:t>class CuentaBancaria {</a:t>
            </a:r>
            <a:endParaRPr b="0" i="0" sz="2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2000"/>
              <a:buFont typeface="Courier New"/>
              <a:buNone/>
            </a:pPr>
            <a:r>
              <a:rPr b="0" i="0" lang="en-US" sz="2000" u="none" cap="none" strike="noStrike">
                <a:solidFill>
                  <a:srgbClr val="E8EDF2"/>
                </a:solidFill>
                <a:latin typeface="Courier New"/>
                <a:ea typeface="Courier New"/>
                <a:cs typeface="Courier New"/>
                <a:sym typeface="Courier New"/>
              </a:rPr>
              <a:t>  private saldo = 0;</a:t>
            </a:r>
            <a:endParaRPr b="0" i="0" sz="2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2000"/>
              <a:buFont typeface="Courier New"/>
              <a:buNone/>
            </a:pPr>
            <a:r>
              <a:rPr b="0" i="0" lang="en-US" sz="2000" u="none" cap="none" strike="noStrike">
                <a:solidFill>
                  <a:srgbClr val="E8EDF2"/>
                </a:solidFill>
                <a:latin typeface="Courier New"/>
                <a:ea typeface="Courier New"/>
                <a:cs typeface="Courier New"/>
                <a:sym typeface="Courier New"/>
              </a:rPr>
              <a:t> </a:t>
            </a:r>
            <a:endParaRPr b="0" i="0" sz="2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2000"/>
              <a:buFont typeface="Courier New"/>
              <a:buNone/>
            </a:pPr>
            <a:r>
              <a:rPr b="0" i="0" lang="en-US" sz="2000" u="none" cap="none" strike="noStrike">
                <a:solidFill>
                  <a:srgbClr val="E8EDF2"/>
                </a:solidFill>
                <a:latin typeface="Courier New"/>
                <a:ea typeface="Courier New"/>
                <a:cs typeface="Courier New"/>
                <a:sym typeface="Courier New"/>
              </a:rPr>
              <a:t>  retirar(monto: number): void {</a:t>
            </a:r>
            <a:endParaRPr b="0" i="0" sz="2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2000"/>
              <a:buFont typeface="Courier New"/>
              <a:buNone/>
            </a:pPr>
            <a:r>
              <a:rPr b="0" i="0" lang="en-US" sz="2000" u="none" cap="none" strike="noStrike">
                <a:solidFill>
                  <a:srgbClr val="E8EDF2"/>
                </a:solidFill>
                <a:latin typeface="Courier New"/>
                <a:ea typeface="Courier New"/>
                <a:cs typeface="Courier New"/>
                <a:sym typeface="Courier New"/>
              </a:rPr>
              <a:t>    if (monto &gt; this.saldo) {</a:t>
            </a:r>
            <a:endParaRPr b="0" i="0" sz="2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2000"/>
              <a:buFont typeface="Courier New"/>
              <a:buNone/>
            </a:pPr>
            <a:r>
              <a:rPr b="0" i="0" lang="en-US" sz="2000" u="none" cap="none" strike="noStrike">
                <a:solidFill>
                  <a:srgbClr val="E8EDF2"/>
                </a:solidFill>
                <a:latin typeface="Courier New"/>
                <a:ea typeface="Courier New"/>
                <a:cs typeface="Courier New"/>
                <a:sym typeface="Courier New"/>
              </a:rPr>
              <a:t>      throw new Error('Sin fondos');</a:t>
            </a:r>
            <a:endParaRPr b="0" i="0" sz="2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2000"/>
              <a:buFont typeface="Courier New"/>
              <a:buNone/>
            </a:pPr>
            <a:r>
              <a:rPr b="0" i="0" lang="en-US" sz="2000" u="none" cap="none" strike="noStrike">
                <a:solidFill>
                  <a:srgbClr val="E8EDF2"/>
                </a:solidFill>
                <a:latin typeface="Courier New"/>
                <a:ea typeface="Courier New"/>
                <a:cs typeface="Courier New"/>
                <a:sym typeface="Courier New"/>
              </a:rPr>
              <a:t>    }</a:t>
            </a:r>
            <a:endParaRPr b="0" i="0" sz="2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2000"/>
              <a:buFont typeface="Courier New"/>
              <a:buNone/>
            </a:pPr>
            <a:r>
              <a:rPr b="0" i="0" lang="en-US" sz="2000" u="none" cap="none" strike="noStrike">
                <a:solidFill>
                  <a:srgbClr val="E8EDF2"/>
                </a:solidFill>
                <a:latin typeface="Courier New"/>
                <a:ea typeface="Courier New"/>
                <a:cs typeface="Courier New"/>
                <a:sym typeface="Courier New"/>
              </a:rPr>
              <a:t>    this.saldo -= monto;</a:t>
            </a:r>
            <a:endParaRPr b="0" i="0" sz="2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2000"/>
              <a:buFont typeface="Courier New"/>
              <a:buNone/>
            </a:pPr>
            <a:r>
              <a:rPr b="0" i="0" lang="en-US" sz="2000" u="none" cap="none" strike="noStrike">
                <a:solidFill>
                  <a:srgbClr val="E8EDF2"/>
                </a:solidFill>
                <a:latin typeface="Courier New"/>
                <a:ea typeface="Courier New"/>
                <a:cs typeface="Courier New"/>
                <a:sym typeface="Courier New"/>
              </a:rPr>
              <a:t>  }</a:t>
            </a:r>
            <a:endParaRPr b="0" i="0" sz="2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2000"/>
              <a:buFont typeface="Courier New"/>
              <a:buNone/>
            </a:pPr>
            <a:r>
              <a:rPr b="0" i="0" lang="en-US" sz="2000" u="none" cap="none" strike="noStrike">
                <a:solidFill>
                  <a:srgbClr val="E8EDF2"/>
                </a:solidFill>
                <a:latin typeface="Courier New"/>
                <a:ea typeface="Courier New"/>
                <a:cs typeface="Courier New"/>
                <a:sym typeface="Courier New"/>
              </a:rPr>
              <a:t>}</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733"/>
        </a:solidFill>
      </p:bgPr>
    </p:bg>
    <p:spTree>
      <p:nvGrpSpPr>
        <p:cNvPr id="60" name="Shape 60"/>
        <p:cNvGrpSpPr/>
        <p:nvPr/>
      </p:nvGrpSpPr>
      <p:grpSpPr>
        <a:xfrm>
          <a:off x="0" y="0"/>
          <a:ext cx="0" cy="0"/>
          <a:chOff x="0" y="0"/>
          <a:chExt cx="0" cy="0"/>
        </a:xfrm>
      </p:grpSpPr>
      <p:sp>
        <p:nvSpPr>
          <p:cNvPr id="61" name="Google Shape;61;p7"/>
          <p:cNvSpPr txBox="1"/>
          <p:nvPr/>
        </p:nvSpPr>
        <p:spPr>
          <a:xfrm>
            <a:off x="822960" y="1188720"/>
            <a:ext cx="10515600" cy="2194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200"/>
              <a:buFont typeface="Arial"/>
              <a:buNone/>
            </a:pPr>
            <a:r>
              <a:rPr b="1" i="0" lang="en-US" sz="4200" u="none" cap="none" strike="noStrike">
                <a:solidFill>
                  <a:srgbClr val="FFFFFF"/>
                </a:solidFill>
                <a:latin typeface="Arial"/>
                <a:ea typeface="Arial"/>
                <a:cs typeface="Arial"/>
                <a:sym typeface="Arial"/>
              </a:rPr>
              <a:t>¿Y si el estado a proteger es una colección de miles de registros?</a:t>
            </a:r>
            <a:endParaRPr b="0" i="0" sz="4200" u="none" cap="none" strike="noStrike">
              <a:solidFill>
                <a:schemeClr val="dk1"/>
              </a:solidFill>
              <a:latin typeface="Calibri"/>
              <a:ea typeface="Calibri"/>
              <a:cs typeface="Calibri"/>
              <a:sym typeface="Calibri"/>
            </a:endParaRPr>
          </a:p>
        </p:txBody>
      </p:sp>
      <p:sp>
        <p:nvSpPr>
          <p:cNvPr id="62" name="Google Shape;62;p7"/>
          <p:cNvSpPr txBox="1"/>
          <p:nvPr/>
        </p:nvSpPr>
        <p:spPr>
          <a:xfrm>
            <a:off x="822960" y="3657600"/>
            <a:ext cx="100584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9B2D"/>
              </a:buClr>
              <a:buSzPts val="2800"/>
              <a:buFont typeface="Calibri"/>
              <a:buNone/>
            </a:pPr>
            <a:r>
              <a:rPr b="0" i="0" lang="en-US" sz="2800" u="none" cap="none" strike="noStrike">
                <a:solidFill>
                  <a:srgbClr val="E39B2D"/>
                </a:solidFill>
                <a:latin typeface="Calibri"/>
                <a:ea typeface="Calibri"/>
                <a:cs typeface="Calibri"/>
                <a:sym typeface="Calibri"/>
              </a:rPr>
              <a:t>¿Dónde viven las reglas?</a:t>
            </a:r>
            <a:endParaRPr b="0" i="0" sz="2800" u="none" cap="none" strike="noStrike">
              <a:solidFill>
                <a:schemeClr val="dk1"/>
              </a:solidFill>
              <a:latin typeface="Calibri"/>
              <a:ea typeface="Calibri"/>
              <a:cs typeface="Calibri"/>
              <a:sym typeface="Calibri"/>
            </a:endParaRPr>
          </a:p>
        </p:txBody>
      </p:sp>
      <p:sp>
        <p:nvSpPr>
          <p:cNvPr id="63" name="Google Shape;63;p7"/>
          <p:cNvSpPr txBox="1"/>
          <p:nvPr/>
        </p:nvSpPr>
        <p:spPr>
          <a:xfrm>
            <a:off x="822960" y="4206240"/>
            <a:ext cx="100584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9B2D"/>
              </a:buClr>
              <a:buSzPts val="2800"/>
              <a:buFont typeface="Calibri"/>
              <a:buNone/>
            </a:pPr>
            <a:r>
              <a:rPr b="0" i="0" lang="en-US" sz="2800" u="none" cap="none" strike="noStrike">
                <a:solidFill>
                  <a:srgbClr val="E39B2D"/>
                </a:solidFill>
                <a:latin typeface="Calibri"/>
                <a:ea typeface="Calibri"/>
                <a:cs typeface="Calibri"/>
                <a:sym typeface="Calibri"/>
              </a:rPr>
              <a:t>¿Quién puede tocar qué?</a:t>
            </a:r>
            <a:endParaRPr b="0" i="0" sz="2800" u="none" cap="none" strike="noStrike">
              <a:solidFill>
                <a:schemeClr val="dk1"/>
              </a:solidFill>
              <a:latin typeface="Calibri"/>
              <a:ea typeface="Calibri"/>
              <a:cs typeface="Calibri"/>
              <a:sym typeface="Calibri"/>
            </a:endParaRPr>
          </a:p>
        </p:txBody>
      </p:sp>
      <p:sp>
        <p:nvSpPr>
          <p:cNvPr id="64" name="Google Shape;64;p7"/>
          <p:cNvSpPr/>
          <p:nvPr/>
        </p:nvSpPr>
        <p:spPr>
          <a:xfrm>
            <a:off x="822960" y="5532120"/>
            <a:ext cx="201168" cy="201168"/>
          </a:xfrm>
          <a:prstGeom prst="rect">
            <a:avLst/>
          </a:prstGeom>
          <a:solidFill>
            <a:srgbClr val="E39B2D"/>
          </a:solidFill>
          <a:ln cap="flat" cmpd="sng" w="12700">
            <a:solidFill>
              <a:srgbClr val="E39B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a:off x="1115568"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7"/>
          <p:cNvSpPr/>
          <p:nvPr/>
        </p:nvSpPr>
        <p:spPr>
          <a:xfrm>
            <a:off x="1408176"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7"/>
          <p:cNvSpPr/>
          <p:nvPr/>
        </p:nvSpPr>
        <p:spPr>
          <a:xfrm>
            <a:off x="1700784"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7"/>
          <p:cNvSpPr/>
          <p:nvPr/>
        </p:nvSpPr>
        <p:spPr>
          <a:xfrm>
            <a:off x="1993392"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7"/>
          <p:cNvSpPr/>
          <p:nvPr/>
        </p:nvSpPr>
        <p:spPr>
          <a:xfrm>
            <a:off x="2286000"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7"/>
          <p:cNvSpPr/>
          <p:nvPr/>
        </p:nvSpPr>
        <p:spPr>
          <a:xfrm>
            <a:off x="2578608"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7"/>
          <p:cNvSpPr/>
          <p:nvPr/>
        </p:nvSpPr>
        <p:spPr>
          <a:xfrm>
            <a:off x="2871216"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63824"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3456432"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p:nvPr/>
        </p:nvSpPr>
        <p:spPr>
          <a:xfrm>
            <a:off x="3749040"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7"/>
          <p:cNvSpPr/>
          <p:nvPr/>
        </p:nvSpPr>
        <p:spPr>
          <a:xfrm>
            <a:off x="4041648"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
          <p:cNvSpPr/>
          <p:nvPr/>
        </p:nvSpPr>
        <p:spPr>
          <a:xfrm>
            <a:off x="4334256"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7"/>
          <p:cNvSpPr/>
          <p:nvPr/>
        </p:nvSpPr>
        <p:spPr>
          <a:xfrm>
            <a:off x="4626864"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7"/>
          <p:cNvSpPr/>
          <p:nvPr/>
        </p:nvSpPr>
        <p:spPr>
          <a:xfrm>
            <a:off x="4919472"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7"/>
          <p:cNvSpPr/>
          <p:nvPr/>
        </p:nvSpPr>
        <p:spPr>
          <a:xfrm>
            <a:off x="5212080"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7"/>
          <p:cNvSpPr/>
          <p:nvPr/>
        </p:nvSpPr>
        <p:spPr>
          <a:xfrm>
            <a:off x="5504688"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7"/>
          <p:cNvSpPr/>
          <p:nvPr/>
        </p:nvSpPr>
        <p:spPr>
          <a:xfrm>
            <a:off x="5797296"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7"/>
          <p:cNvSpPr/>
          <p:nvPr/>
        </p:nvSpPr>
        <p:spPr>
          <a:xfrm>
            <a:off x="6089904"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
          <p:cNvSpPr/>
          <p:nvPr/>
        </p:nvSpPr>
        <p:spPr>
          <a:xfrm>
            <a:off x="6382512"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7"/>
          <p:cNvSpPr/>
          <p:nvPr/>
        </p:nvSpPr>
        <p:spPr>
          <a:xfrm>
            <a:off x="6675120"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7"/>
          <p:cNvSpPr/>
          <p:nvPr/>
        </p:nvSpPr>
        <p:spPr>
          <a:xfrm>
            <a:off x="6967728"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7"/>
          <p:cNvSpPr/>
          <p:nvPr/>
        </p:nvSpPr>
        <p:spPr>
          <a:xfrm>
            <a:off x="7260336"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7"/>
          <p:cNvSpPr/>
          <p:nvPr/>
        </p:nvSpPr>
        <p:spPr>
          <a:xfrm>
            <a:off x="7552944"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7"/>
          <p:cNvSpPr/>
          <p:nvPr/>
        </p:nvSpPr>
        <p:spPr>
          <a:xfrm>
            <a:off x="7845552"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7"/>
          <p:cNvSpPr/>
          <p:nvPr/>
        </p:nvSpPr>
        <p:spPr>
          <a:xfrm>
            <a:off x="8138160"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7"/>
          <p:cNvSpPr/>
          <p:nvPr/>
        </p:nvSpPr>
        <p:spPr>
          <a:xfrm>
            <a:off x="8430768"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
          <p:cNvSpPr/>
          <p:nvPr/>
        </p:nvSpPr>
        <p:spPr>
          <a:xfrm>
            <a:off x="8723376"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p:nvPr/>
        </p:nvSpPr>
        <p:spPr>
          <a:xfrm>
            <a:off x="9015984"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p:cNvSpPr/>
          <p:nvPr/>
        </p:nvSpPr>
        <p:spPr>
          <a:xfrm>
            <a:off x="9308592"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7"/>
          <p:cNvSpPr/>
          <p:nvPr/>
        </p:nvSpPr>
        <p:spPr>
          <a:xfrm>
            <a:off x="9601200"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p:cNvSpPr/>
          <p:nvPr/>
        </p:nvSpPr>
        <p:spPr>
          <a:xfrm>
            <a:off x="9893808"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7"/>
          <p:cNvSpPr/>
          <p:nvPr/>
        </p:nvSpPr>
        <p:spPr>
          <a:xfrm>
            <a:off x="10186416"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7"/>
          <p:cNvSpPr/>
          <p:nvPr/>
        </p:nvSpPr>
        <p:spPr>
          <a:xfrm>
            <a:off x="10479024"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7"/>
          <p:cNvSpPr/>
          <p:nvPr/>
        </p:nvSpPr>
        <p:spPr>
          <a:xfrm>
            <a:off x="10771632"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7"/>
          <p:cNvSpPr/>
          <p:nvPr/>
        </p:nvSpPr>
        <p:spPr>
          <a:xfrm>
            <a:off x="11064240" y="5532120"/>
            <a:ext cx="201168" cy="201168"/>
          </a:xfrm>
          <a:prstGeom prst="rect">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 name="Shape 104"/>
        <p:cNvGrpSpPr/>
        <p:nvPr/>
      </p:nvGrpSpPr>
      <p:grpSpPr>
        <a:xfrm>
          <a:off x="0" y="0"/>
          <a:ext cx="0" cy="0"/>
          <a:chOff x="0" y="0"/>
          <a:chExt cx="0" cy="0"/>
        </a:xfrm>
      </p:grpSpPr>
      <p:sp>
        <p:nvSpPr>
          <p:cNvPr id="105" name="Google Shape;105;p8"/>
          <p:cNvSpPr txBox="1"/>
          <p:nvPr/>
        </p:nvSpPr>
        <p:spPr>
          <a:xfrm>
            <a:off x="548640" y="411480"/>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3400"/>
              <a:buFont typeface="Arial"/>
              <a:buNone/>
            </a:pPr>
            <a:r>
              <a:rPr b="1" i="0" lang="en-US" sz="3400" u="none" cap="none" strike="noStrike">
                <a:solidFill>
                  <a:srgbClr val="1C2733"/>
                </a:solidFill>
                <a:latin typeface="Arial"/>
                <a:ea typeface="Arial"/>
                <a:cs typeface="Arial"/>
                <a:sym typeface="Arial"/>
              </a:rPr>
              <a:t>Ustedes son el equipo backend</a:t>
            </a:r>
            <a:endParaRPr b="0" i="0" sz="3400" u="none" cap="none" strike="noStrike">
              <a:solidFill>
                <a:schemeClr val="dk1"/>
              </a:solidFill>
              <a:latin typeface="Calibri"/>
              <a:ea typeface="Calibri"/>
              <a:cs typeface="Calibri"/>
              <a:sym typeface="Calibri"/>
            </a:endParaRPr>
          </a:p>
        </p:txBody>
      </p:sp>
      <p:sp>
        <p:nvSpPr>
          <p:cNvPr id="106" name="Google Shape;106;p8"/>
          <p:cNvSpPr/>
          <p:nvPr/>
        </p:nvSpPr>
        <p:spPr>
          <a:xfrm>
            <a:off x="548640" y="2194560"/>
            <a:ext cx="2377440" cy="2194560"/>
          </a:xfrm>
          <a:prstGeom prst="roundRect">
            <a:avLst>
              <a:gd fmla="val 5000"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8"/>
          <p:cNvSpPr txBox="1"/>
          <p:nvPr/>
        </p:nvSpPr>
        <p:spPr>
          <a:xfrm>
            <a:off x="777240" y="2468880"/>
            <a:ext cx="19202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733"/>
              </a:buClr>
              <a:buSzPts val="2200"/>
              <a:buFont typeface="Arial"/>
              <a:buNone/>
            </a:pPr>
            <a:r>
              <a:rPr b="1" i="0" lang="en-US" sz="2200" u="none" cap="none" strike="noStrike">
                <a:solidFill>
                  <a:srgbClr val="1C2733"/>
                </a:solidFill>
                <a:latin typeface="Arial"/>
                <a:ea typeface="Arial"/>
                <a:cs typeface="Arial"/>
                <a:sym typeface="Arial"/>
              </a:rPr>
              <a:t>Proveedor internacional</a:t>
            </a:r>
            <a:endParaRPr b="0" i="0" sz="2200" u="none" cap="none" strike="noStrike">
              <a:solidFill>
                <a:schemeClr val="dk1"/>
              </a:solidFill>
              <a:latin typeface="Calibri"/>
              <a:ea typeface="Calibri"/>
              <a:cs typeface="Calibri"/>
              <a:sym typeface="Calibri"/>
            </a:endParaRPr>
          </a:p>
        </p:txBody>
      </p:sp>
      <p:sp>
        <p:nvSpPr>
          <p:cNvPr id="108" name="Google Shape;108;p8"/>
          <p:cNvSpPr txBox="1"/>
          <p:nvPr/>
        </p:nvSpPr>
        <p:spPr>
          <a:xfrm>
            <a:off x="777240" y="3520440"/>
            <a:ext cx="1920240" cy="7315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B6B7A"/>
              </a:buClr>
              <a:buSzPts val="1600"/>
              <a:buFont typeface="Calibri"/>
              <a:buNone/>
            </a:pPr>
            <a:r>
              <a:rPr b="0" i="0" lang="en-US" sz="1600" u="none" cap="none" strike="noStrike">
                <a:solidFill>
                  <a:srgbClr val="5B6B7A"/>
                </a:solidFill>
                <a:latin typeface="Calibri"/>
                <a:ea typeface="Calibri"/>
                <a:cs typeface="Calibri"/>
                <a:sym typeface="Calibri"/>
              </a:rPr>
              <a:t>API externa</a:t>
            </a:r>
            <a:endParaRPr b="0" i="0" sz="1600" u="none" cap="none" strike="noStrike">
              <a:solidFill>
                <a:schemeClr val="dk1"/>
              </a:solidFill>
              <a:latin typeface="Calibri"/>
              <a:ea typeface="Calibri"/>
              <a:cs typeface="Calibri"/>
              <a:sym typeface="Calibri"/>
            </a:endParaRPr>
          </a:p>
        </p:txBody>
      </p:sp>
      <p:cxnSp>
        <p:nvCxnSpPr>
          <p:cNvPr id="109" name="Google Shape;109;p8"/>
          <p:cNvCxnSpPr/>
          <p:nvPr/>
        </p:nvCxnSpPr>
        <p:spPr>
          <a:xfrm>
            <a:off x="2999232" y="3291840"/>
            <a:ext cx="374904" cy="0"/>
          </a:xfrm>
          <a:prstGeom prst="straightConnector1">
            <a:avLst/>
          </a:prstGeom>
          <a:noFill/>
          <a:ln cap="flat" cmpd="sng" w="31750">
            <a:solidFill>
              <a:srgbClr val="E39B2D"/>
            </a:solidFill>
            <a:prstDash val="solid"/>
            <a:round/>
            <a:headEnd len="sm" w="sm" type="none"/>
            <a:tailEnd len="med" w="med" type="triangle"/>
          </a:ln>
        </p:spPr>
      </p:cxnSp>
      <p:sp>
        <p:nvSpPr>
          <p:cNvPr id="110" name="Google Shape;110;p8"/>
          <p:cNvSpPr/>
          <p:nvPr/>
        </p:nvSpPr>
        <p:spPr>
          <a:xfrm>
            <a:off x="3447288" y="2194560"/>
            <a:ext cx="2377440" cy="2194560"/>
          </a:xfrm>
          <a:prstGeom prst="roundRect">
            <a:avLst>
              <a:gd fmla="val 5000"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8"/>
          <p:cNvSpPr txBox="1"/>
          <p:nvPr/>
        </p:nvSpPr>
        <p:spPr>
          <a:xfrm>
            <a:off x="3675888" y="2468880"/>
            <a:ext cx="19202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733"/>
              </a:buClr>
              <a:buSzPts val="2200"/>
              <a:buFont typeface="Arial"/>
              <a:buNone/>
            </a:pPr>
            <a:r>
              <a:rPr b="1" i="0" lang="en-US" sz="2200" u="none" cap="none" strike="noStrike">
                <a:solidFill>
                  <a:srgbClr val="1C2733"/>
                </a:solidFill>
                <a:latin typeface="Arial"/>
                <a:ea typeface="Arial"/>
                <a:cs typeface="Arial"/>
                <a:sym typeface="Arial"/>
              </a:rPr>
              <a:t>Lote diario</a:t>
            </a:r>
            <a:endParaRPr b="0" i="0" sz="2200" u="none" cap="none" strike="noStrike">
              <a:solidFill>
                <a:schemeClr val="dk1"/>
              </a:solidFill>
              <a:latin typeface="Calibri"/>
              <a:ea typeface="Calibri"/>
              <a:cs typeface="Calibri"/>
              <a:sym typeface="Calibri"/>
            </a:endParaRPr>
          </a:p>
        </p:txBody>
      </p:sp>
      <p:sp>
        <p:nvSpPr>
          <p:cNvPr id="112" name="Google Shape;112;p8"/>
          <p:cNvSpPr txBox="1"/>
          <p:nvPr/>
        </p:nvSpPr>
        <p:spPr>
          <a:xfrm>
            <a:off x="3675888" y="3520440"/>
            <a:ext cx="1920240" cy="7315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B6B7A"/>
              </a:buClr>
              <a:buSzPts val="1600"/>
              <a:buFont typeface="Calibri"/>
              <a:buNone/>
            </a:pPr>
            <a:r>
              <a:rPr b="0" i="0" lang="en-US" sz="1600" u="none" cap="none" strike="noStrike">
                <a:solidFill>
                  <a:srgbClr val="5B6B7A"/>
                </a:solidFill>
                <a:latin typeface="Calibri"/>
                <a:ea typeface="Calibri"/>
                <a:cs typeface="Calibri"/>
                <a:sym typeface="Calibri"/>
              </a:rPr>
              <a:t>miles de transacciones en JSON</a:t>
            </a:r>
            <a:endParaRPr b="0" i="0" sz="1600" u="none" cap="none" strike="noStrike">
              <a:solidFill>
                <a:schemeClr val="dk1"/>
              </a:solidFill>
              <a:latin typeface="Calibri"/>
              <a:ea typeface="Calibri"/>
              <a:cs typeface="Calibri"/>
              <a:sym typeface="Calibri"/>
            </a:endParaRPr>
          </a:p>
        </p:txBody>
      </p:sp>
      <p:cxnSp>
        <p:nvCxnSpPr>
          <p:cNvPr id="113" name="Google Shape;113;p8"/>
          <p:cNvCxnSpPr/>
          <p:nvPr/>
        </p:nvCxnSpPr>
        <p:spPr>
          <a:xfrm>
            <a:off x="5897880" y="3291840"/>
            <a:ext cx="374904" cy="0"/>
          </a:xfrm>
          <a:prstGeom prst="straightConnector1">
            <a:avLst/>
          </a:prstGeom>
          <a:noFill/>
          <a:ln cap="flat" cmpd="sng" w="31750">
            <a:solidFill>
              <a:srgbClr val="E39B2D"/>
            </a:solidFill>
            <a:prstDash val="solid"/>
            <a:round/>
            <a:headEnd len="sm" w="sm" type="none"/>
            <a:tailEnd len="med" w="med" type="triangle"/>
          </a:ln>
        </p:spPr>
      </p:cxnSp>
      <p:sp>
        <p:nvSpPr>
          <p:cNvPr id="114" name="Google Shape;114;p8"/>
          <p:cNvSpPr/>
          <p:nvPr/>
        </p:nvSpPr>
        <p:spPr>
          <a:xfrm>
            <a:off x="6345936" y="2194560"/>
            <a:ext cx="2377440" cy="2194560"/>
          </a:xfrm>
          <a:prstGeom prst="roundRect">
            <a:avLst>
              <a:gd fmla="val 5000" name="adj"/>
            </a:avLst>
          </a:prstGeom>
          <a:solidFill>
            <a:srgbClr val="1C2733"/>
          </a:solidFill>
          <a:ln cap="flat" cmpd="sng" w="12700">
            <a:solidFill>
              <a:srgbClr val="1C27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8"/>
          <p:cNvSpPr txBox="1"/>
          <p:nvPr/>
        </p:nvSpPr>
        <p:spPr>
          <a:xfrm>
            <a:off x="6574536" y="2468880"/>
            <a:ext cx="19202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Billetera virtual</a:t>
            </a:r>
            <a:endParaRPr b="0" i="0" sz="2200" u="none" cap="none" strike="noStrike">
              <a:solidFill>
                <a:schemeClr val="dk1"/>
              </a:solidFill>
              <a:latin typeface="Calibri"/>
              <a:ea typeface="Calibri"/>
              <a:cs typeface="Calibri"/>
              <a:sym typeface="Calibri"/>
            </a:endParaRPr>
          </a:p>
        </p:txBody>
      </p:sp>
      <p:sp>
        <p:nvSpPr>
          <p:cNvPr id="116" name="Google Shape;116;p8"/>
          <p:cNvSpPr txBox="1"/>
          <p:nvPr/>
        </p:nvSpPr>
        <p:spPr>
          <a:xfrm>
            <a:off x="6574536" y="3520440"/>
            <a:ext cx="1920240" cy="7315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E39B2D"/>
              </a:buClr>
              <a:buSzPts val="1600"/>
              <a:buFont typeface="Calibri"/>
              <a:buNone/>
            </a:pPr>
            <a:r>
              <a:rPr b="0" i="0" lang="en-US" sz="1600" u="none" cap="none" strike="noStrike">
                <a:solidFill>
                  <a:srgbClr val="E39B2D"/>
                </a:solidFill>
                <a:latin typeface="Calibri"/>
                <a:ea typeface="Calibri"/>
                <a:cs typeface="Calibri"/>
                <a:sym typeface="Calibri"/>
              </a:rPr>
              <a:t>nuestro backend</a:t>
            </a:r>
            <a:endParaRPr b="0" i="0" sz="1600" u="none" cap="none" strike="noStrike">
              <a:solidFill>
                <a:schemeClr val="dk1"/>
              </a:solidFill>
              <a:latin typeface="Calibri"/>
              <a:ea typeface="Calibri"/>
              <a:cs typeface="Calibri"/>
              <a:sym typeface="Calibri"/>
            </a:endParaRPr>
          </a:p>
        </p:txBody>
      </p:sp>
      <p:cxnSp>
        <p:nvCxnSpPr>
          <p:cNvPr id="117" name="Google Shape;117;p8"/>
          <p:cNvCxnSpPr/>
          <p:nvPr/>
        </p:nvCxnSpPr>
        <p:spPr>
          <a:xfrm>
            <a:off x="8796528" y="3291840"/>
            <a:ext cx="374904" cy="0"/>
          </a:xfrm>
          <a:prstGeom prst="straightConnector1">
            <a:avLst/>
          </a:prstGeom>
          <a:noFill/>
          <a:ln cap="flat" cmpd="sng" w="31750">
            <a:solidFill>
              <a:srgbClr val="E39B2D"/>
            </a:solidFill>
            <a:prstDash val="solid"/>
            <a:round/>
            <a:headEnd len="sm" w="sm" type="none"/>
            <a:tailEnd len="med" w="med" type="triangle"/>
          </a:ln>
        </p:spPr>
      </p:cxnSp>
      <p:sp>
        <p:nvSpPr>
          <p:cNvPr id="118" name="Google Shape;118;p8"/>
          <p:cNvSpPr/>
          <p:nvPr/>
        </p:nvSpPr>
        <p:spPr>
          <a:xfrm>
            <a:off x="9244584" y="2194560"/>
            <a:ext cx="2377440" cy="2194560"/>
          </a:xfrm>
          <a:prstGeom prst="roundRect">
            <a:avLst>
              <a:gd fmla="val 5000"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8"/>
          <p:cNvSpPr txBox="1"/>
          <p:nvPr/>
        </p:nvSpPr>
        <p:spPr>
          <a:xfrm>
            <a:off x="9473184" y="2468880"/>
            <a:ext cx="19202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733"/>
              </a:buClr>
              <a:buSzPts val="2200"/>
              <a:buFont typeface="Arial"/>
              <a:buNone/>
            </a:pPr>
            <a:r>
              <a:rPr b="1" i="0" lang="en-US" sz="2200" u="none" cap="none" strike="noStrike">
                <a:solidFill>
                  <a:srgbClr val="1C2733"/>
                </a:solidFill>
                <a:latin typeface="Arial"/>
                <a:ea typeface="Arial"/>
                <a:cs typeface="Arial"/>
                <a:sym typeface="Arial"/>
              </a:rPr>
              <a:t>Finanzas</a:t>
            </a:r>
            <a:endParaRPr b="0" i="0" sz="2200" u="none" cap="none" strike="noStrike">
              <a:solidFill>
                <a:schemeClr val="dk1"/>
              </a:solidFill>
              <a:latin typeface="Calibri"/>
              <a:ea typeface="Calibri"/>
              <a:cs typeface="Calibri"/>
              <a:sym typeface="Calibri"/>
            </a:endParaRPr>
          </a:p>
        </p:txBody>
      </p:sp>
      <p:sp>
        <p:nvSpPr>
          <p:cNvPr id="120" name="Google Shape;120;p8"/>
          <p:cNvSpPr txBox="1"/>
          <p:nvPr/>
        </p:nvSpPr>
        <p:spPr>
          <a:xfrm>
            <a:off x="9473184" y="3520440"/>
            <a:ext cx="1920240" cy="7315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B6B7A"/>
              </a:buClr>
              <a:buSzPts val="1600"/>
              <a:buFont typeface="Calibri"/>
              <a:buNone/>
            </a:pPr>
            <a:r>
              <a:rPr b="0" i="0" lang="en-US" sz="1600" u="none" cap="none" strike="noStrike">
                <a:solidFill>
                  <a:srgbClr val="5B6B7A"/>
                </a:solidFill>
                <a:latin typeface="Calibri"/>
                <a:ea typeface="Calibri"/>
                <a:cs typeface="Calibri"/>
                <a:sym typeface="Calibri"/>
              </a:rPr>
              <a:t>métricas de negocio</a:t>
            </a:r>
            <a:endParaRPr b="0" i="0" sz="1600" u="none" cap="none" strike="noStrike">
              <a:solidFill>
                <a:schemeClr val="dk1"/>
              </a:solidFill>
              <a:latin typeface="Calibri"/>
              <a:ea typeface="Calibri"/>
              <a:cs typeface="Calibri"/>
              <a:sym typeface="Calibri"/>
            </a:endParaRPr>
          </a:p>
        </p:txBody>
      </p:sp>
      <p:sp>
        <p:nvSpPr>
          <p:cNvPr id="121" name="Google Shape;121;p8"/>
          <p:cNvSpPr txBox="1"/>
          <p:nvPr/>
        </p:nvSpPr>
        <p:spPr>
          <a:xfrm>
            <a:off x="548640" y="4937760"/>
            <a:ext cx="1106424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B6B7A"/>
              </a:buClr>
              <a:buSzPts val="2200"/>
              <a:buFont typeface="Calibri"/>
              <a:buNone/>
            </a:pPr>
            <a:r>
              <a:rPr b="0" i="0" lang="en-US" sz="2200" u="none" cap="none" strike="noStrike">
                <a:solidFill>
                  <a:srgbClr val="5B6B7A"/>
                </a:solidFill>
                <a:latin typeface="Calibri"/>
                <a:ea typeface="Calibri"/>
                <a:cs typeface="Calibri"/>
                <a:sym typeface="Calibri"/>
              </a:rPr>
              <a:t>Todos los días llega un lote. Finanzas necesita métricas sobre esos lotes.</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 name="Shape 126"/>
        <p:cNvGrpSpPr/>
        <p:nvPr/>
      </p:nvGrpSpPr>
      <p:grpSpPr>
        <a:xfrm>
          <a:off x="0" y="0"/>
          <a:ext cx="0" cy="0"/>
          <a:chOff x="0" y="0"/>
          <a:chExt cx="0" cy="0"/>
        </a:xfrm>
      </p:grpSpPr>
      <p:sp>
        <p:nvSpPr>
          <p:cNvPr id="127" name="Google Shape;127;p9"/>
          <p:cNvSpPr txBox="1"/>
          <p:nvPr/>
        </p:nvSpPr>
        <p:spPr>
          <a:xfrm>
            <a:off x="548640" y="411480"/>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3400"/>
              <a:buFont typeface="Arial"/>
              <a:buNone/>
            </a:pPr>
            <a:r>
              <a:rPr b="1" i="0" lang="en-US" sz="3400" u="none" cap="none" strike="noStrike">
                <a:solidFill>
                  <a:srgbClr val="1C2733"/>
                </a:solidFill>
                <a:latin typeface="Arial"/>
                <a:ea typeface="Arial"/>
                <a:cs typeface="Arial"/>
                <a:sym typeface="Arial"/>
              </a:rPr>
              <a:t>Una transacción</a:t>
            </a:r>
            <a:endParaRPr b="0" i="0" sz="3400" u="none" cap="none" strike="noStrike">
              <a:solidFill>
                <a:schemeClr val="dk1"/>
              </a:solidFill>
              <a:latin typeface="Calibri"/>
              <a:ea typeface="Calibri"/>
              <a:cs typeface="Calibri"/>
              <a:sym typeface="Calibri"/>
            </a:endParaRPr>
          </a:p>
        </p:txBody>
      </p:sp>
      <p:sp>
        <p:nvSpPr>
          <p:cNvPr id="128" name="Google Shape;128;p9"/>
          <p:cNvSpPr/>
          <p:nvPr/>
        </p:nvSpPr>
        <p:spPr>
          <a:xfrm>
            <a:off x="1371600" y="1645920"/>
            <a:ext cx="9418320" cy="3566160"/>
          </a:xfrm>
          <a:prstGeom prst="roundRect">
            <a:avLst>
              <a:gd fmla="val 3077" name="adj"/>
            </a:avLst>
          </a:prstGeom>
          <a:solidFill>
            <a:srgbClr val="1F2A36"/>
          </a:solidFill>
          <a:ln cap="flat" cmpd="sng" w="12700">
            <a:solidFill>
              <a:srgbClr val="1F2A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9"/>
          <p:cNvSpPr txBox="1"/>
          <p:nvPr/>
        </p:nvSpPr>
        <p:spPr>
          <a:xfrm>
            <a:off x="1645920" y="1874520"/>
            <a:ext cx="8869680" cy="310896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E8EDF2"/>
              </a:buClr>
              <a:buSzPts val="2400"/>
              <a:buFont typeface="Courier New"/>
              <a:buNone/>
            </a:pPr>
            <a:r>
              <a:rPr b="0" i="0" lang="en-US" sz="2400" u="none" cap="none" strike="noStrike">
                <a:solidFill>
                  <a:srgbClr val="E8EDF2"/>
                </a:solidFill>
                <a:latin typeface="Courier New"/>
                <a:ea typeface="Courier New"/>
                <a:cs typeface="Courier New"/>
                <a:sym typeface="Courier New"/>
              </a:rPr>
              <a:t>interface Transaccion {</a:t>
            </a:r>
            <a:endParaRPr b="0" i="0" sz="2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2400"/>
              <a:buFont typeface="Courier New"/>
              <a:buNone/>
            </a:pPr>
            <a:r>
              <a:rPr b="0" i="0" lang="en-US" sz="2400" u="none" cap="none" strike="noStrike">
                <a:solidFill>
                  <a:srgbClr val="E8EDF2"/>
                </a:solidFill>
                <a:latin typeface="Courier New"/>
                <a:ea typeface="Courier New"/>
                <a:cs typeface="Courier New"/>
                <a:sym typeface="Courier New"/>
              </a:rPr>
              <a:t>  id: string;</a:t>
            </a:r>
            <a:endParaRPr b="0" i="0" sz="2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2400"/>
              <a:buFont typeface="Courier New"/>
              <a:buNone/>
            </a:pPr>
            <a:r>
              <a:rPr b="0" i="0" lang="en-US" sz="2400" u="none" cap="none" strike="noStrike">
                <a:solidFill>
                  <a:srgbClr val="E8EDF2"/>
                </a:solidFill>
                <a:latin typeface="Courier New"/>
                <a:ea typeface="Courier New"/>
                <a:cs typeface="Courier New"/>
                <a:sym typeface="Courier New"/>
              </a:rPr>
              <a:t>  monto: number;</a:t>
            </a:r>
            <a:endParaRPr b="0" i="0" sz="2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2400"/>
              <a:buFont typeface="Courier New"/>
              <a:buNone/>
            </a:pPr>
            <a:r>
              <a:rPr b="0" i="0" lang="en-US" sz="2400" u="none" cap="none" strike="noStrike">
                <a:solidFill>
                  <a:srgbClr val="E8EDF2"/>
                </a:solidFill>
                <a:latin typeface="Courier New"/>
                <a:ea typeface="Courier New"/>
                <a:cs typeface="Courier New"/>
                <a:sym typeface="Courier New"/>
              </a:rPr>
              <a:t>  moneda: 'ARS' | 'USD';</a:t>
            </a:r>
            <a:endParaRPr b="0" i="0" sz="2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2400"/>
              <a:buFont typeface="Courier New"/>
              <a:buNone/>
            </a:pPr>
            <a:r>
              <a:rPr b="0" i="0" lang="en-US" sz="2400" u="none" cap="none" strike="noStrike">
                <a:solidFill>
                  <a:srgbClr val="E8EDF2"/>
                </a:solidFill>
                <a:latin typeface="Courier New"/>
                <a:ea typeface="Courier New"/>
                <a:cs typeface="Courier New"/>
                <a:sym typeface="Courier New"/>
              </a:rPr>
              <a:t>  estado: 'APROBADA' | 'RECHAZADA' | 'FRAUDE';</a:t>
            </a:r>
            <a:endParaRPr b="0" i="0" sz="2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2400"/>
              <a:buFont typeface="Courier New"/>
              <a:buNone/>
            </a:pPr>
            <a:r>
              <a:rPr b="0" i="0" lang="en-US" sz="2400" u="none" cap="none" strike="noStrike">
                <a:solidFill>
                  <a:srgbClr val="E8EDF2"/>
                </a:solidFill>
                <a:latin typeface="Courier New"/>
                <a:ea typeface="Courier New"/>
                <a:cs typeface="Courier New"/>
                <a:sym typeface="Courier New"/>
              </a:rPr>
              <a:t>  fecha: Date;</a:t>
            </a:r>
            <a:endParaRPr b="0" i="0" sz="2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2400"/>
              <a:buFont typeface="Courier New"/>
              <a:buNone/>
            </a:pPr>
            <a:r>
              <a:rPr b="0" i="0" lang="en-US" sz="2400" u="none" cap="none" strike="noStrike">
                <a:solidFill>
                  <a:srgbClr val="E8EDF2"/>
                </a:solidFill>
                <a:latin typeface="Courier New"/>
                <a:ea typeface="Courier New"/>
                <a:cs typeface="Courier New"/>
                <a:sym typeface="Courier New"/>
              </a:rPr>
              <a:t>}</a:t>
            </a:r>
            <a:endParaRPr b="0" i="0" sz="2400" u="none" cap="none" strike="noStrike">
              <a:solidFill>
                <a:schemeClr val="dk1"/>
              </a:solidFill>
              <a:latin typeface="Calibri"/>
              <a:ea typeface="Calibri"/>
              <a:cs typeface="Calibri"/>
              <a:sym typeface="Calibri"/>
            </a:endParaRPr>
          </a:p>
        </p:txBody>
      </p:sp>
      <p:sp>
        <p:nvSpPr>
          <p:cNvPr id="130" name="Google Shape;130;p9"/>
          <p:cNvSpPr txBox="1"/>
          <p:nvPr/>
        </p:nvSpPr>
        <p:spPr>
          <a:xfrm>
            <a:off x="1371600" y="5486400"/>
            <a:ext cx="941832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B6B7A"/>
              </a:buClr>
              <a:buSzPts val="2000"/>
              <a:buFont typeface="Calibri"/>
              <a:buNone/>
            </a:pPr>
            <a:r>
              <a:rPr b="0" i="0" lang="en-US" sz="2000" u="none" cap="none" strike="noStrike">
                <a:solidFill>
                  <a:srgbClr val="5B6B7A"/>
                </a:solidFill>
                <a:latin typeface="Calibri"/>
                <a:ea typeface="Calibri"/>
                <a:cs typeface="Calibri"/>
                <a:sym typeface="Calibri"/>
              </a:rPr>
              <a:t>Eso es todo lo que necesitan saber del dominio.</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10"/>
          <p:cNvSpPr txBox="1"/>
          <p:nvPr/>
        </p:nvSpPr>
        <p:spPr>
          <a:xfrm>
            <a:off x="548640" y="411480"/>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3400"/>
              <a:buFont typeface="Arial"/>
              <a:buNone/>
            </a:pPr>
            <a:r>
              <a:rPr b="1" i="0" lang="en-US" sz="3400" u="none" cap="none" strike="noStrike">
                <a:solidFill>
                  <a:srgbClr val="1C2733"/>
                </a:solidFill>
                <a:latin typeface="Arial"/>
                <a:ea typeface="Arial"/>
                <a:cs typeface="Arial"/>
                <a:sym typeface="Arial"/>
              </a:rPr>
              <a:t>Reglas generales</a:t>
            </a:r>
            <a:endParaRPr b="0" i="0" sz="3400" u="none" cap="none" strike="noStrike">
              <a:solidFill>
                <a:schemeClr val="dk1"/>
              </a:solidFill>
              <a:latin typeface="Calibri"/>
              <a:ea typeface="Calibri"/>
              <a:cs typeface="Calibri"/>
              <a:sym typeface="Calibri"/>
            </a:endParaRPr>
          </a:p>
        </p:txBody>
      </p:sp>
      <p:sp>
        <p:nvSpPr>
          <p:cNvPr id="137" name="Google Shape;137;p10"/>
          <p:cNvSpPr/>
          <p:nvPr/>
        </p:nvSpPr>
        <p:spPr>
          <a:xfrm>
            <a:off x="548640" y="1554480"/>
            <a:ext cx="3502152" cy="3566160"/>
          </a:xfrm>
          <a:prstGeom prst="roundRect">
            <a:avLst>
              <a:gd fmla="val 3133"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txBox="1"/>
          <p:nvPr/>
        </p:nvSpPr>
        <p:spPr>
          <a:xfrm>
            <a:off x="914400" y="1783080"/>
            <a:ext cx="274320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9B2D"/>
              </a:buClr>
              <a:buSzPts val="6400"/>
              <a:buFont typeface="Arial"/>
              <a:buNone/>
            </a:pPr>
            <a:r>
              <a:rPr b="1" i="0" lang="en-US" sz="6400" u="none" cap="none" strike="noStrike">
                <a:solidFill>
                  <a:srgbClr val="E39B2D"/>
                </a:solidFill>
                <a:latin typeface="Arial"/>
                <a:ea typeface="Arial"/>
                <a:cs typeface="Arial"/>
                <a:sym typeface="Arial"/>
              </a:rPr>
              <a:t>1</a:t>
            </a:r>
            <a:endParaRPr b="0" i="0" sz="6400" u="none" cap="none" strike="noStrike">
              <a:solidFill>
                <a:schemeClr val="dk1"/>
              </a:solidFill>
              <a:latin typeface="Calibri"/>
              <a:ea typeface="Calibri"/>
              <a:cs typeface="Calibri"/>
              <a:sym typeface="Calibri"/>
            </a:endParaRPr>
          </a:p>
        </p:txBody>
      </p:sp>
      <p:sp>
        <p:nvSpPr>
          <p:cNvPr id="139" name="Google Shape;139;p10"/>
          <p:cNvSpPr txBox="1"/>
          <p:nvPr/>
        </p:nvSpPr>
        <p:spPr>
          <a:xfrm>
            <a:off x="914400" y="3017520"/>
            <a:ext cx="2770632" cy="1920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733"/>
              </a:buClr>
              <a:buSzPts val="2400"/>
              <a:buFont typeface="Calibri"/>
              <a:buNone/>
            </a:pPr>
            <a:r>
              <a:rPr b="0" i="0" lang="en-US" sz="2400" u="none" cap="none" strike="noStrike">
                <a:solidFill>
                  <a:srgbClr val="1C2733"/>
                </a:solidFill>
                <a:latin typeface="Calibri"/>
                <a:ea typeface="Calibri"/>
                <a:cs typeface="Calibri"/>
                <a:sym typeface="Calibri"/>
              </a:rPr>
              <a:t>No comenten su consigna con otros grupos.</a:t>
            </a:r>
            <a:endParaRPr b="0" i="0" sz="2400" u="none" cap="none" strike="noStrike">
              <a:solidFill>
                <a:schemeClr val="dk1"/>
              </a:solidFill>
              <a:latin typeface="Calibri"/>
              <a:ea typeface="Calibri"/>
              <a:cs typeface="Calibri"/>
              <a:sym typeface="Calibri"/>
            </a:endParaRPr>
          </a:p>
        </p:txBody>
      </p:sp>
      <p:sp>
        <p:nvSpPr>
          <p:cNvPr id="140" name="Google Shape;140;p10"/>
          <p:cNvSpPr/>
          <p:nvPr/>
        </p:nvSpPr>
        <p:spPr>
          <a:xfrm>
            <a:off x="4325112" y="1554480"/>
            <a:ext cx="3502152" cy="3566160"/>
          </a:xfrm>
          <a:prstGeom prst="roundRect">
            <a:avLst>
              <a:gd fmla="val 3133"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0"/>
          <p:cNvSpPr txBox="1"/>
          <p:nvPr/>
        </p:nvSpPr>
        <p:spPr>
          <a:xfrm>
            <a:off x="4690872" y="1783080"/>
            <a:ext cx="274320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9B2D"/>
              </a:buClr>
              <a:buSzPts val="6400"/>
              <a:buFont typeface="Arial"/>
              <a:buNone/>
            </a:pPr>
            <a:r>
              <a:rPr b="1" i="0" lang="en-US" sz="6400" u="none" cap="none" strike="noStrike">
                <a:solidFill>
                  <a:srgbClr val="E39B2D"/>
                </a:solidFill>
                <a:latin typeface="Arial"/>
                <a:ea typeface="Arial"/>
                <a:cs typeface="Arial"/>
                <a:sym typeface="Arial"/>
              </a:rPr>
              <a:t>2</a:t>
            </a:r>
            <a:endParaRPr b="0" i="0" sz="6400" u="none" cap="none" strike="noStrike">
              <a:solidFill>
                <a:schemeClr val="dk1"/>
              </a:solidFill>
              <a:latin typeface="Calibri"/>
              <a:ea typeface="Calibri"/>
              <a:cs typeface="Calibri"/>
              <a:sym typeface="Calibri"/>
            </a:endParaRPr>
          </a:p>
        </p:txBody>
      </p:sp>
      <p:sp>
        <p:nvSpPr>
          <p:cNvPr id="142" name="Google Shape;142;p10"/>
          <p:cNvSpPr txBox="1"/>
          <p:nvPr/>
        </p:nvSpPr>
        <p:spPr>
          <a:xfrm>
            <a:off x="4690872" y="3017520"/>
            <a:ext cx="2770632" cy="1920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733"/>
              </a:buClr>
              <a:buSzPts val="2400"/>
              <a:buFont typeface="Calibri"/>
              <a:buNone/>
            </a:pPr>
            <a:r>
              <a:rPr b="0" i="0" lang="en-US" sz="2400" u="none" cap="none" strike="noStrike">
                <a:solidFill>
                  <a:srgbClr val="1C2733"/>
                </a:solidFill>
                <a:latin typeface="Calibri"/>
                <a:ea typeface="Calibri"/>
                <a:cs typeface="Calibri"/>
                <a:sym typeface="Calibri"/>
              </a:rPr>
              <a:t>No se permite usar IA.</a:t>
            </a:r>
            <a:endParaRPr b="0" i="0" sz="2400" u="none" cap="none" strike="noStrike">
              <a:solidFill>
                <a:schemeClr val="dk1"/>
              </a:solidFill>
              <a:latin typeface="Calibri"/>
              <a:ea typeface="Calibri"/>
              <a:cs typeface="Calibri"/>
              <a:sym typeface="Calibri"/>
            </a:endParaRPr>
          </a:p>
        </p:txBody>
      </p:sp>
      <p:sp>
        <p:nvSpPr>
          <p:cNvPr id="143" name="Google Shape;143;p10"/>
          <p:cNvSpPr/>
          <p:nvPr/>
        </p:nvSpPr>
        <p:spPr>
          <a:xfrm>
            <a:off x="8101584" y="1554480"/>
            <a:ext cx="3502152" cy="3566160"/>
          </a:xfrm>
          <a:prstGeom prst="roundRect">
            <a:avLst>
              <a:gd fmla="val 3133"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0"/>
          <p:cNvSpPr txBox="1"/>
          <p:nvPr/>
        </p:nvSpPr>
        <p:spPr>
          <a:xfrm>
            <a:off x="8467344" y="1783080"/>
            <a:ext cx="274320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9B2D"/>
              </a:buClr>
              <a:buSzPts val="6400"/>
              <a:buFont typeface="Arial"/>
              <a:buNone/>
            </a:pPr>
            <a:r>
              <a:rPr b="1" i="0" lang="en-US" sz="6400" u="none" cap="none" strike="noStrike">
                <a:solidFill>
                  <a:srgbClr val="E39B2D"/>
                </a:solidFill>
                <a:latin typeface="Arial"/>
                <a:ea typeface="Arial"/>
                <a:cs typeface="Arial"/>
                <a:sym typeface="Arial"/>
              </a:rPr>
              <a:t>3</a:t>
            </a:r>
            <a:endParaRPr b="0" i="0" sz="6400" u="none" cap="none" strike="noStrike">
              <a:solidFill>
                <a:schemeClr val="dk1"/>
              </a:solidFill>
              <a:latin typeface="Calibri"/>
              <a:ea typeface="Calibri"/>
              <a:cs typeface="Calibri"/>
              <a:sym typeface="Calibri"/>
            </a:endParaRPr>
          </a:p>
        </p:txBody>
      </p:sp>
      <p:sp>
        <p:nvSpPr>
          <p:cNvPr id="145" name="Google Shape;145;p10"/>
          <p:cNvSpPr txBox="1"/>
          <p:nvPr/>
        </p:nvSpPr>
        <p:spPr>
          <a:xfrm>
            <a:off x="8467344" y="3017520"/>
            <a:ext cx="2770632" cy="1920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733"/>
              </a:buClr>
              <a:buSzPts val="2400"/>
              <a:buFont typeface="Calibri"/>
              <a:buNone/>
            </a:pPr>
            <a:r>
              <a:rPr b="0" i="0" lang="en-US" sz="2400" u="none" cap="none" strike="noStrike">
                <a:solidFill>
                  <a:srgbClr val="1C2733"/>
                </a:solidFill>
                <a:latin typeface="Calibri"/>
                <a:ea typeface="Calibri"/>
                <a:cs typeface="Calibri"/>
                <a:sym typeface="Calibri"/>
              </a:rPr>
              <a:t>Cuando todas las verificaciones pasan, terminaron.</a:t>
            </a:r>
            <a:endParaRPr b="0" i="0" sz="2400" u="none" cap="none" strike="noStrike">
              <a:solidFill>
                <a:schemeClr val="dk1"/>
              </a:solidFill>
              <a:latin typeface="Calibri"/>
              <a:ea typeface="Calibri"/>
              <a:cs typeface="Calibri"/>
              <a:sym typeface="Calibri"/>
            </a:endParaRPr>
          </a:p>
        </p:txBody>
      </p:sp>
      <p:sp>
        <p:nvSpPr>
          <p:cNvPr id="146" name="Google Shape;146;p10"/>
          <p:cNvSpPr txBox="1"/>
          <p:nvPr/>
        </p:nvSpPr>
        <p:spPr>
          <a:xfrm>
            <a:off x="548640" y="5486400"/>
            <a:ext cx="110642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7A"/>
              </a:buClr>
              <a:buSzPts val="2200"/>
              <a:buFont typeface="Calibri"/>
              <a:buNone/>
            </a:pPr>
            <a:r>
              <a:rPr b="0" i="1" lang="en-US" sz="2200" u="none" cap="none" strike="noStrike">
                <a:solidFill>
                  <a:srgbClr val="5B6B7A"/>
                </a:solidFill>
                <a:latin typeface="Calibri"/>
                <a:ea typeface="Calibri"/>
                <a:cs typeface="Calibri"/>
                <a:sym typeface="Calibri"/>
              </a:rPr>
              <a:t>La consigna está dentro de su enlace.</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sp>
        <p:nvSpPr>
          <p:cNvPr id="152" name="Google Shape;152;p11"/>
          <p:cNvSpPr txBox="1"/>
          <p:nvPr/>
        </p:nvSpPr>
        <p:spPr>
          <a:xfrm>
            <a:off x="548640" y="411480"/>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3400"/>
              <a:buFont typeface="Arial"/>
              <a:buNone/>
            </a:pPr>
            <a:r>
              <a:rPr b="1" i="0" lang="en-US" sz="3400" u="none" cap="none" strike="noStrike">
                <a:solidFill>
                  <a:srgbClr val="1C2733"/>
                </a:solidFill>
                <a:latin typeface="Arial"/>
                <a:ea typeface="Arial"/>
                <a:cs typeface="Arial"/>
                <a:sym typeface="Arial"/>
              </a:rPr>
              <a:t>Referencia: filter, map, reduce</a:t>
            </a:r>
            <a:endParaRPr b="0" i="0" sz="3400" u="none" cap="none" strike="noStrike">
              <a:solidFill>
                <a:schemeClr val="dk1"/>
              </a:solidFill>
              <a:latin typeface="Calibri"/>
              <a:ea typeface="Calibri"/>
              <a:cs typeface="Calibri"/>
              <a:sym typeface="Calibri"/>
            </a:endParaRPr>
          </a:p>
        </p:txBody>
      </p:sp>
      <p:sp>
        <p:nvSpPr>
          <p:cNvPr id="153" name="Google Shape;153;p11"/>
          <p:cNvSpPr/>
          <p:nvPr/>
        </p:nvSpPr>
        <p:spPr>
          <a:xfrm>
            <a:off x="548640" y="1325880"/>
            <a:ext cx="11064240" cy="777240"/>
          </a:xfrm>
          <a:prstGeom prst="roundRect">
            <a:avLst>
              <a:gd fmla="val 14118" name="adj"/>
            </a:avLst>
          </a:prstGeom>
          <a:solidFill>
            <a:srgbClr val="1F2A36"/>
          </a:solidFill>
          <a:ln cap="flat" cmpd="sng" w="12700">
            <a:solidFill>
              <a:srgbClr val="1F2A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1"/>
          <p:cNvSpPr txBox="1"/>
          <p:nvPr/>
        </p:nvSpPr>
        <p:spPr>
          <a:xfrm>
            <a:off x="822960" y="1554480"/>
            <a:ext cx="10515600" cy="3200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E8EDF2"/>
              </a:buClr>
              <a:buSzPts val="2200"/>
              <a:buFont typeface="Courier New"/>
              <a:buNone/>
            </a:pPr>
            <a:r>
              <a:rPr b="0" i="0" lang="en-US" sz="2200" u="none" cap="none" strike="noStrike">
                <a:solidFill>
                  <a:srgbClr val="E8EDF2"/>
                </a:solidFill>
                <a:latin typeface="Courier New"/>
                <a:ea typeface="Courier New"/>
                <a:cs typeface="Courier New"/>
                <a:sym typeface="Courier New"/>
              </a:rPr>
              <a:t>const nums = [1, 2, 3, 4];</a:t>
            </a:r>
            <a:endParaRPr b="0" i="0" sz="2200" u="none" cap="none" strike="noStrike">
              <a:solidFill>
                <a:schemeClr val="dk1"/>
              </a:solidFill>
              <a:latin typeface="Calibri"/>
              <a:ea typeface="Calibri"/>
              <a:cs typeface="Calibri"/>
              <a:sym typeface="Calibri"/>
            </a:endParaRPr>
          </a:p>
        </p:txBody>
      </p:sp>
      <p:sp>
        <p:nvSpPr>
          <p:cNvPr id="155" name="Google Shape;155;p11"/>
          <p:cNvSpPr/>
          <p:nvPr/>
        </p:nvSpPr>
        <p:spPr>
          <a:xfrm>
            <a:off x="548640" y="2377440"/>
            <a:ext cx="11064240" cy="1051560"/>
          </a:xfrm>
          <a:prstGeom prst="roundRect">
            <a:avLst>
              <a:gd fmla="val 10435"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txBox="1"/>
          <p:nvPr/>
        </p:nvSpPr>
        <p:spPr>
          <a:xfrm>
            <a:off x="822960" y="2514600"/>
            <a:ext cx="20116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9B2D"/>
              </a:buClr>
              <a:buSzPts val="2400"/>
              <a:buFont typeface="Arial"/>
              <a:buNone/>
            </a:pPr>
            <a:r>
              <a:rPr b="1" i="0" lang="en-US" sz="2400" u="none" cap="none" strike="noStrike">
                <a:solidFill>
                  <a:srgbClr val="E39B2D"/>
                </a:solidFill>
                <a:latin typeface="Arial"/>
                <a:ea typeface="Arial"/>
                <a:cs typeface="Arial"/>
                <a:sym typeface="Arial"/>
              </a:rPr>
              <a:t>filter</a:t>
            </a:r>
            <a:endParaRPr b="0" i="0" sz="2400" u="none" cap="none" strike="noStrike">
              <a:solidFill>
                <a:schemeClr val="dk1"/>
              </a:solidFill>
              <a:latin typeface="Calibri"/>
              <a:ea typeface="Calibri"/>
              <a:cs typeface="Calibri"/>
              <a:sym typeface="Calibri"/>
            </a:endParaRPr>
          </a:p>
        </p:txBody>
      </p:sp>
      <p:sp>
        <p:nvSpPr>
          <p:cNvPr id="157" name="Google Shape;157;p11"/>
          <p:cNvSpPr txBox="1"/>
          <p:nvPr/>
        </p:nvSpPr>
        <p:spPr>
          <a:xfrm>
            <a:off x="822960" y="2971800"/>
            <a:ext cx="21031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7A"/>
              </a:buClr>
              <a:buSzPts val="1300"/>
              <a:buFont typeface="Calibri"/>
              <a:buNone/>
            </a:pPr>
            <a:r>
              <a:rPr b="0" i="0" lang="en-US" sz="1300" u="none" cap="none" strike="noStrike">
                <a:solidFill>
                  <a:srgbClr val="5B6B7A"/>
                </a:solidFill>
                <a:latin typeface="Calibri"/>
                <a:ea typeface="Calibri"/>
                <a:cs typeface="Calibri"/>
                <a:sym typeface="Calibri"/>
              </a:rPr>
              <a:t>se queda con los que cumplen</a:t>
            </a:r>
            <a:endParaRPr b="0" i="0" sz="1300" u="none" cap="none" strike="noStrike">
              <a:solidFill>
                <a:schemeClr val="dk1"/>
              </a:solidFill>
              <a:latin typeface="Calibri"/>
              <a:ea typeface="Calibri"/>
              <a:cs typeface="Calibri"/>
              <a:sym typeface="Calibri"/>
            </a:endParaRPr>
          </a:p>
        </p:txBody>
      </p:sp>
      <p:sp>
        <p:nvSpPr>
          <p:cNvPr id="158" name="Google Shape;158;p11"/>
          <p:cNvSpPr txBox="1"/>
          <p:nvPr/>
        </p:nvSpPr>
        <p:spPr>
          <a:xfrm>
            <a:off x="3017520" y="2377440"/>
            <a:ext cx="53949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2000"/>
              <a:buFont typeface="Courier New"/>
              <a:buNone/>
            </a:pPr>
            <a:r>
              <a:rPr b="0" i="0" lang="en-US" sz="2000" u="none" cap="none" strike="noStrike">
                <a:solidFill>
                  <a:srgbClr val="1C2733"/>
                </a:solidFill>
                <a:latin typeface="Courier New"/>
                <a:ea typeface="Courier New"/>
                <a:cs typeface="Courier New"/>
                <a:sym typeface="Courier New"/>
              </a:rPr>
              <a:t>nums.filter(n =&gt; n &gt; 2)</a:t>
            </a:r>
            <a:endParaRPr b="0" i="0" sz="2000" u="none" cap="none" strike="noStrike">
              <a:solidFill>
                <a:schemeClr val="dk1"/>
              </a:solidFill>
              <a:latin typeface="Calibri"/>
              <a:ea typeface="Calibri"/>
              <a:cs typeface="Calibri"/>
              <a:sym typeface="Calibri"/>
            </a:endParaRPr>
          </a:p>
        </p:txBody>
      </p:sp>
      <p:sp>
        <p:nvSpPr>
          <p:cNvPr id="159" name="Google Shape;159;p11"/>
          <p:cNvSpPr txBox="1"/>
          <p:nvPr/>
        </p:nvSpPr>
        <p:spPr>
          <a:xfrm>
            <a:off x="8915400" y="2377440"/>
            <a:ext cx="26517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1800"/>
              <a:buFont typeface="Courier New"/>
              <a:buNone/>
            </a:pPr>
            <a:r>
              <a:rPr b="1" i="0" lang="en-US" sz="1800" u="none" cap="none" strike="noStrike">
                <a:solidFill>
                  <a:srgbClr val="1C2733"/>
                </a:solidFill>
                <a:latin typeface="Courier New"/>
                <a:ea typeface="Courier New"/>
                <a:cs typeface="Courier New"/>
                <a:sym typeface="Courier New"/>
              </a:rPr>
              <a:t>→ [3, 4]</a:t>
            </a:r>
            <a:endParaRPr b="0" i="0" sz="1800" u="none" cap="none" strike="noStrike">
              <a:solidFill>
                <a:schemeClr val="dk1"/>
              </a:solidFill>
              <a:latin typeface="Calibri"/>
              <a:ea typeface="Calibri"/>
              <a:cs typeface="Calibri"/>
              <a:sym typeface="Calibri"/>
            </a:endParaRPr>
          </a:p>
        </p:txBody>
      </p:sp>
      <p:sp>
        <p:nvSpPr>
          <p:cNvPr id="160" name="Google Shape;160;p11"/>
          <p:cNvSpPr/>
          <p:nvPr/>
        </p:nvSpPr>
        <p:spPr>
          <a:xfrm>
            <a:off x="548640" y="3611880"/>
            <a:ext cx="11064240" cy="1051560"/>
          </a:xfrm>
          <a:prstGeom prst="roundRect">
            <a:avLst>
              <a:gd fmla="val 10435"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txBox="1"/>
          <p:nvPr/>
        </p:nvSpPr>
        <p:spPr>
          <a:xfrm>
            <a:off x="822960" y="3749040"/>
            <a:ext cx="20116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9B2D"/>
              </a:buClr>
              <a:buSzPts val="2400"/>
              <a:buFont typeface="Arial"/>
              <a:buNone/>
            </a:pPr>
            <a:r>
              <a:rPr b="1" i="0" lang="en-US" sz="2400" u="none" cap="none" strike="noStrike">
                <a:solidFill>
                  <a:srgbClr val="E39B2D"/>
                </a:solidFill>
                <a:latin typeface="Arial"/>
                <a:ea typeface="Arial"/>
                <a:cs typeface="Arial"/>
                <a:sym typeface="Arial"/>
              </a:rPr>
              <a:t>map</a:t>
            </a:r>
            <a:endParaRPr b="0" i="0" sz="2400" u="none" cap="none" strike="noStrike">
              <a:solidFill>
                <a:schemeClr val="dk1"/>
              </a:solidFill>
              <a:latin typeface="Calibri"/>
              <a:ea typeface="Calibri"/>
              <a:cs typeface="Calibri"/>
              <a:sym typeface="Calibri"/>
            </a:endParaRPr>
          </a:p>
        </p:txBody>
      </p:sp>
      <p:sp>
        <p:nvSpPr>
          <p:cNvPr id="162" name="Google Shape;162;p11"/>
          <p:cNvSpPr txBox="1"/>
          <p:nvPr/>
        </p:nvSpPr>
        <p:spPr>
          <a:xfrm>
            <a:off x="822960" y="4206240"/>
            <a:ext cx="21031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7A"/>
              </a:buClr>
              <a:buSzPts val="1300"/>
              <a:buFont typeface="Calibri"/>
              <a:buNone/>
            </a:pPr>
            <a:r>
              <a:rPr b="0" i="0" lang="en-US" sz="1300" u="none" cap="none" strike="noStrike">
                <a:solidFill>
                  <a:srgbClr val="5B6B7A"/>
                </a:solidFill>
                <a:latin typeface="Calibri"/>
                <a:ea typeface="Calibri"/>
                <a:cs typeface="Calibri"/>
                <a:sym typeface="Calibri"/>
              </a:rPr>
              <a:t>transforma cada uno</a:t>
            </a:r>
            <a:endParaRPr b="0" i="0" sz="1300" u="none" cap="none" strike="noStrike">
              <a:solidFill>
                <a:schemeClr val="dk1"/>
              </a:solidFill>
              <a:latin typeface="Calibri"/>
              <a:ea typeface="Calibri"/>
              <a:cs typeface="Calibri"/>
              <a:sym typeface="Calibri"/>
            </a:endParaRPr>
          </a:p>
        </p:txBody>
      </p:sp>
      <p:sp>
        <p:nvSpPr>
          <p:cNvPr id="163" name="Google Shape;163;p11"/>
          <p:cNvSpPr txBox="1"/>
          <p:nvPr/>
        </p:nvSpPr>
        <p:spPr>
          <a:xfrm>
            <a:off x="3017520" y="3611880"/>
            <a:ext cx="53949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2000"/>
              <a:buFont typeface="Courier New"/>
              <a:buNone/>
            </a:pPr>
            <a:r>
              <a:rPr b="0" i="0" lang="en-US" sz="2000" u="none" cap="none" strike="noStrike">
                <a:solidFill>
                  <a:srgbClr val="1C2733"/>
                </a:solidFill>
                <a:latin typeface="Courier New"/>
                <a:ea typeface="Courier New"/>
                <a:cs typeface="Courier New"/>
                <a:sym typeface="Courier New"/>
              </a:rPr>
              <a:t>nums.map(n =&gt; n * 10)</a:t>
            </a:r>
            <a:endParaRPr b="0" i="0" sz="2000" u="none" cap="none" strike="noStrike">
              <a:solidFill>
                <a:schemeClr val="dk1"/>
              </a:solidFill>
              <a:latin typeface="Calibri"/>
              <a:ea typeface="Calibri"/>
              <a:cs typeface="Calibri"/>
              <a:sym typeface="Calibri"/>
            </a:endParaRPr>
          </a:p>
        </p:txBody>
      </p:sp>
      <p:sp>
        <p:nvSpPr>
          <p:cNvPr id="164" name="Google Shape;164;p11"/>
          <p:cNvSpPr txBox="1"/>
          <p:nvPr/>
        </p:nvSpPr>
        <p:spPr>
          <a:xfrm>
            <a:off x="8915400" y="3611880"/>
            <a:ext cx="26517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1800"/>
              <a:buFont typeface="Courier New"/>
              <a:buNone/>
            </a:pPr>
            <a:r>
              <a:rPr b="1" i="0" lang="en-US" sz="1800" u="none" cap="none" strike="noStrike">
                <a:solidFill>
                  <a:srgbClr val="1C2733"/>
                </a:solidFill>
                <a:latin typeface="Courier New"/>
                <a:ea typeface="Courier New"/>
                <a:cs typeface="Courier New"/>
                <a:sym typeface="Courier New"/>
              </a:rPr>
              <a:t>→ [10, 20, 30, 40]</a:t>
            </a:r>
            <a:endParaRPr b="0" i="0" sz="1800" u="none" cap="none" strike="noStrike">
              <a:solidFill>
                <a:schemeClr val="dk1"/>
              </a:solidFill>
              <a:latin typeface="Calibri"/>
              <a:ea typeface="Calibri"/>
              <a:cs typeface="Calibri"/>
              <a:sym typeface="Calibri"/>
            </a:endParaRPr>
          </a:p>
        </p:txBody>
      </p:sp>
      <p:sp>
        <p:nvSpPr>
          <p:cNvPr id="165" name="Google Shape;165;p11"/>
          <p:cNvSpPr/>
          <p:nvPr/>
        </p:nvSpPr>
        <p:spPr>
          <a:xfrm>
            <a:off x="548640" y="4846320"/>
            <a:ext cx="11064240" cy="1051560"/>
          </a:xfrm>
          <a:prstGeom prst="roundRect">
            <a:avLst>
              <a:gd fmla="val 10435"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txBox="1"/>
          <p:nvPr/>
        </p:nvSpPr>
        <p:spPr>
          <a:xfrm>
            <a:off x="822960" y="4983480"/>
            <a:ext cx="20116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9B2D"/>
              </a:buClr>
              <a:buSzPts val="2400"/>
              <a:buFont typeface="Arial"/>
              <a:buNone/>
            </a:pPr>
            <a:r>
              <a:rPr b="1" i="0" lang="en-US" sz="2400" u="none" cap="none" strike="noStrike">
                <a:solidFill>
                  <a:srgbClr val="E39B2D"/>
                </a:solidFill>
                <a:latin typeface="Arial"/>
                <a:ea typeface="Arial"/>
                <a:cs typeface="Arial"/>
                <a:sym typeface="Arial"/>
              </a:rPr>
              <a:t>reduce</a:t>
            </a:r>
            <a:endParaRPr b="0" i="0" sz="2400" u="none" cap="none" strike="noStrike">
              <a:solidFill>
                <a:schemeClr val="dk1"/>
              </a:solidFill>
              <a:latin typeface="Calibri"/>
              <a:ea typeface="Calibri"/>
              <a:cs typeface="Calibri"/>
              <a:sym typeface="Calibri"/>
            </a:endParaRPr>
          </a:p>
        </p:txBody>
      </p:sp>
      <p:sp>
        <p:nvSpPr>
          <p:cNvPr id="167" name="Google Shape;167;p11"/>
          <p:cNvSpPr txBox="1"/>
          <p:nvPr/>
        </p:nvSpPr>
        <p:spPr>
          <a:xfrm>
            <a:off x="822960" y="5440680"/>
            <a:ext cx="21031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7A"/>
              </a:buClr>
              <a:buSzPts val="1300"/>
              <a:buFont typeface="Calibri"/>
              <a:buNone/>
            </a:pPr>
            <a:r>
              <a:rPr b="0" i="0" lang="en-US" sz="1300" u="none" cap="none" strike="noStrike">
                <a:solidFill>
                  <a:srgbClr val="5B6B7A"/>
                </a:solidFill>
                <a:latin typeface="Calibri"/>
                <a:ea typeface="Calibri"/>
                <a:cs typeface="Calibri"/>
                <a:sym typeface="Calibri"/>
              </a:rPr>
              <a:t>acumula en un solo valor</a:t>
            </a:r>
            <a:endParaRPr b="0" i="0" sz="1300" u="none" cap="none" strike="noStrike">
              <a:solidFill>
                <a:schemeClr val="dk1"/>
              </a:solidFill>
              <a:latin typeface="Calibri"/>
              <a:ea typeface="Calibri"/>
              <a:cs typeface="Calibri"/>
              <a:sym typeface="Calibri"/>
            </a:endParaRPr>
          </a:p>
        </p:txBody>
      </p:sp>
      <p:sp>
        <p:nvSpPr>
          <p:cNvPr id="168" name="Google Shape;168;p11"/>
          <p:cNvSpPr txBox="1"/>
          <p:nvPr/>
        </p:nvSpPr>
        <p:spPr>
          <a:xfrm>
            <a:off x="3017520" y="4846320"/>
            <a:ext cx="53949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2000"/>
              <a:buFont typeface="Courier New"/>
              <a:buNone/>
            </a:pPr>
            <a:r>
              <a:rPr b="0" i="0" lang="en-US" sz="2000" u="none" cap="none" strike="noStrike">
                <a:solidFill>
                  <a:srgbClr val="1C2733"/>
                </a:solidFill>
                <a:latin typeface="Courier New"/>
                <a:ea typeface="Courier New"/>
                <a:cs typeface="Courier New"/>
                <a:sym typeface="Courier New"/>
              </a:rPr>
              <a:t>nums.reduce((acc, n) =&gt; acc + n, 0)</a:t>
            </a:r>
            <a:endParaRPr b="0" i="0" sz="2000" u="none" cap="none" strike="noStrike">
              <a:solidFill>
                <a:schemeClr val="dk1"/>
              </a:solidFill>
              <a:latin typeface="Calibri"/>
              <a:ea typeface="Calibri"/>
              <a:cs typeface="Calibri"/>
              <a:sym typeface="Calibri"/>
            </a:endParaRPr>
          </a:p>
        </p:txBody>
      </p:sp>
      <p:sp>
        <p:nvSpPr>
          <p:cNvPr id="169" name="Google Shape;169;p11"/>
          <p:cNvSpPr txBox="1"/>
          <p:nvPr/>
        </p:nvSpPr>
        <p:spPr>
          <a:xfrm>
            <a:off x="8915400" y="4846320"/>
            <a:ext cx="26517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1800"/>
              <a:buFont typeface="Courier New"/>
              <a:buNone/>
            </a:pPr>
            <a:r>
              <a:rPr b="1" i="0" lang="en-US" sz="1800" u="none" cap="none" strike="noStrike">
                <a:solidFill>
                  <a:srgbClr val="1C2733"/>
                </a:solidFill>
                <a:latin typeface="Courier New"/>
                <a:ea typeface="Courier New"/>
                <a:cs typeface="Courier New"/>
                <a:sym typeface="Courier New"/>
              </a:rPr>
              <a:t>→ 10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 name="Shape 174"/>
        <p:cNvGrpSpPr/>
        <p:nvPr/>
      </p:nvGrpSpPr>
      <p:grpSpPr>
        <a:xfrm>
          <a:off x="0" y="0"/>
          <a:ext cx="0" cy="0"/>
          <a:chOff x="0" y="0"/>
          <a:chExt cx="0" cy="0"/>
        </a:xfrm>
      </p:grpSpPr>
      <p:sp>
        <p:nvSpPr>
          <p:cNvPr id="175" name="Google Shape;175;p12"/>
          <p:cNvSpPr txBox="1"/>
          <p:nvPr/>
        </p:nvSpPr>
        <p:spPr>
          <a:xfrm>
            <a:off x="822960" y="822960"/>
            <a:ext cx="73152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9B2D"/>
              </a:buClr>
              <a:buSzPts val="2000"/>
              <a:buFont typeface="Calibri"/>
              <a:buNone/>
            </a:pPr>
            <a:r>
              <a:rPr b="1" i="0" lang="en-US" sz="2000" u="none" cap="none" strike="noStrike">
                <a:solidFill>
                  <a:srgbClr val="E39B2D"/>
                </a:solidFill>
                <a:latin typeface="Calibri"/>
                <a:ea typeface="Calibri"/>
                <a:cs typeface="Calibri"/>
                <a:sym typeface="Calibri"/>
              </a:rPr>
              <a:t>Mensaje de Finanzas</a:t>
            </a:r>
            <a:endParaRPr b="1" i="0" sz="2000" u="none" cap="none" strike="noStrike">
              <a:solidFill>
                <a:schemeClr val="dk1"/>
              </a:solidFill>
              <a:latin typeface="Calibri"/>
              <a:ea typeface="Calibri"/>
              <a:cs typeface="Calibri"/>
              <a:sym typeface="Calibri"/>
            </a:endParaRPr>
          </a:p>
        </p:txBody>
      </p:sp>
      <p:sp>
        <p:nvSpPr>
          <p:cNvPr id="176" name="Google Shape;176;p12"/>
          <p:cNvSpPr txBox="1"/>
          <p:nvPr/>
        </p:nvSpPr>
        <p:spPr>
          <a:xfrm>
            <a:off x="822960" y="1280160"/>
            <a:ext cx="10515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4200"/>
              <a:buFont typeface="Arial"/>
              <a:buNone/>
            </a:pPr>
            <a:r>
              <a:rPr b="1" i="0" lang="en-US" sz="4200" u="none" cap="none" strike="noStrike">
                <a:solidFill>
                  <a:schemeClr val="dk1"/>
                </a:solidFill>
                <a:latin typeface="Arial"/>
                <a:ea typeface="Arial"/>
                <a:cs typeface="Arial"/>
                <a:sym typeface="Arial"/>
              </a:rPr>
              <a:t>Finanzas revisó la primera iteración.</a:t>
            </a:r>
            <a:endParaRPr b="0" i="0" sz="4200" u="none" cap="none" strike="noStrike">
              <a:solidFill>
                <a:schemeClr val="dk1"/>
              </a:solidFill>
              <a:latin typeface="Calibri"/>
              <a:ea typeface="Calibri"/>
              <a:cs typeface="Calibri"/>
              <a:sym typeface="Calibri"/>
            </a:endParaRPr>
          </a:p>
        </p:txBody>
      </p:sp>
      <p:sp>
        <p:nvSpPr>
          <p:cNvPr id="177" name="Google Shape;177;p12"/>
          <p:cNvSpPr txBox="1"/>
          <p:nvPr/>
        </p:nvSpPr>
        <p:spPr>
          <a:xfrm>
            <a:off x="822960" y="2194560"/>
            <a:ext cx="105156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3CEDA"/>
              </a:buClr>
              <a:buSzPts val="2800"/>
              <a:buFont typeface="Calibri"/>
              <a:buNone/>
            </a:pPr>
            <a:r>
              <a:rPr b="0" i="0" lang="en-US" sz="2800" cap="none" strike="noStrike">
                <a:solidFill>
                  <a:schemeClr val="dk2"/>
                </a:solidFill>
                <a:latin typeface="Calibri"/>
                <a:ea typeface="Calibri"/>
                <a:cs typeface="Calibri"/>
                <a:sym typeface="Calibri"/>
              </a:rPr>
              <a:t>Hay un ajuste antes del pase a producción.</a:t>
            </a:r>
            <a:endParaRPr b="0" i="0" sz="2800" cap="none" strike="noStrike">
              <a:solidFill>
                <a:schemeClr val="dk2"/>
              </a:solidFill>
              <a:latin typeface="Calibri"/>
              <a:ea typeface="Calibri"/>
              <a:cs typeface="Calibri"/>
              <a:sym typeface="Calibri"/>
            </a:endParaRPr>
          </a:p>
        </p:txBody>
      </p:sp>
      <p:sp>
        <p:nvSpPr>
          <p:cNvPr id="178" name="Google Shape;178;p12"/>
          <p:cNvSpPr/>
          <p:nvPr/>
        </p:nvSpPr>
        <p:spPr>
          <a:xfrm>
            <a:off x="822960" y="3383280"/>
            <a:ext cx="5120640" cy="2468880"/>
          </a:xfrm>
          <a:prstGeom prst="roundRect">
            <a:avLst>
              <a:gd fmla="val 4444" name="adj"/>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2"/>
          <p:cNvSpPr txBox="1"/>
          <p:nvPr/>
        </p:nvSpPr>
        <p:spPr>
          <a:xfrm>
            <a:off x="1143000" y="3566160"/>
            <a:ext cx="9144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9B2D"/>
              </a:buClr>
              <a:buSzPts val="4800"/>
              <a:buFont typeface="Arial"/>
              <a:buNone/>
            </a:pPr>
            <a:r>
              <a:rPr b="1" i="0" lang="en-US" sz="4800" u="none" cap="none" strike="noStrike">
                <a:solidFill>
                  <a:srgbClr val="E39B2D"/>
                </a:solidFill>
                <a:latin typeface="Arial"/>
                <a:ea typeface="Arial"/>
                <a:cs typeface="Arial"/>
                <a:sym typeface="Arial"/>
              </a:rPr>
              <a:t>1</a:t>
            </a:r>
            <a:endParaRPr b="0" i="0" sz="4800" u="none" cap="none" strike="noStrike">
              <a:solidFill>
                <a:schemeClr val="dk1"/>
              </a:solidFill>
              <a:latin typeface="Calibri"/>
              <a:ea typeface="Calibri"/>
              <a:cs typeface="Calibri"/>
              <a:sym typeface="Calibri"/>
            </a:endParaRPr>
          </a:p>
        </p:txBody>
      </p:sp>
      <p:sp>
        <p:nvSpPr>
          <p:cNvPr id="180" name="Google Shape;180;p12"/>
          <p:cNvSpPr txBox="1"/>
          <p:nvPr/>
        </p:nvSpPr>
        <p:spPr>
          <a:xfrm>
            <a:off x="1143000" y="4434840"/>
            <a:ext cx="448056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0" i="0" lang="en-US" sz="2200" u="none" cap="none" strike="noStrike">
                <a:solidFill>
                  <a:srgbClr val="FFFFFF"/>
                </a:solidFill>
                <a:latin typeface="Calibri"/>
                <a:ea typeface="Calibri"/>
                <a:cs typeface="Calibri"/>
                <a:sym typeface="Calibri"/>
              </a:rPr>
              <a:t>Peguen el enlace de su solución en su buzón de entrega.</a:t>
            </a:r>
            <a:endParaRPr b="0" i="0" sz="2200" u="none" cap="none" strike="noStrike">
              <a:solidFill>
                <a:schemeClr val="dk1"/>
              </a:solidFill>
              <a:latin typeface="Calibri"/>
              <a:ea typeface="Calibri"/>
              <a:cs typeface="Calibri"/>
              <a:sym typeface="Calibri"/>
            </a:endParaRPr>
          </a:p>
        </p:txBody>
      </p:sp>
      <p:sp>
        <p:nvSpPr>
          <p:cNvPr id="181" name="Google Shape;181;p12"/>
          <p:cNvSpPr/>
          <p:nvPr/>
        </p:nvSpPr>
        <p:spPr>
          <a:xfrm>
            <a:off x="6217920" y="3383280"/>
            <a:ext cx="5120640" cy="2468880"/>
          </a:xfrm>
          <a:prstGeom prst="roundRect">
            <a:avLst>
              <a:gd fmla="val 4444" name="adj"/>
            </a:avLst>
          </a:prstGeom>
          <a:solidFill>
            <a:srgbClr val="2A3746"/>
          </a:solidFill>
          <a:ln cap="flat" cmpd="sng" w="12700">
            <a:solidFill>
              <a:srgbClr val="2A37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2"/>
          <p:cNvSpPr txBox="1"/>
          <p:nvPr/>
        </p:nvSpPr>
        <p:spPr>
          <a:xfrm>
            <a:off x="6537960" y="3566160"/>
            <a:ext cx="9144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9B2D"/>
              </a:buClr>
              <a:buSzPts val="4800"/>
              <a:buFont typeface="Arial"/>
              <a:buNone/>
            </a:pPr>
            <a:r>
              <a:rPr b="1" i="0" lang="en-US" sz="4800" u="none" cap="none" strike="noStrike">
                <a:solidFill>
                  <a:srgbClr val="E39B2D"/>
                </a:solidFill>
                <a:latin typeface="Arial"/>
                <a:ea typeface="Arial"/>
                <a:cs typeface="Arial"/>
                <a:sym typeface="Arial"/>
              </a:rPr>
              <a:t>2</a:t>
            </a:r>
            <a:endParaRPr b="0" i="0" sz="4800" u="none" cap="none" strike="noStrike">
              <a:solidFill>
                <a:schemeClr val="dk1"/>
              </a:solidFill>
              <a:latin typeface="Calibri"/>
              <a:ea typeface="Calibri"/>
              <a:cs typeface="Calibri"/>
              <a:sym typeface="Calibri"/>
            </a:endParaRPr>
          </a:p>
        </p:txBody>
      </p:sp>
      <p:sp>
        <p:nvSpPr>
          <p:cNvPr id="183" name="Google Shape;183;p12"/>
          <p:cNvSpPr txBox="1"/>
          <p:nvPr/>
        </p:nvSpPr>
        <p:spPr>
          <a:xfrm>
            <a:off x="6537960" y="4434840"/>
            <a:ext cx="448056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0" i="0" lang="en-US" sz="2200" u="none" cap="none" strike="noStrike">
                <a:solidFill>
                  <a:srgbClr val="FFFFFF"/>
                </a:solidFill>
                <a:latin typeface="Calibri"/>
                <a:ea typeface="Calibri"/>
                <a:cs typeface="Calibri"/>
                <a:sym typeface="Calibri"/>
              </a:rPr>
              <a:t>Abran su buzón de herencia: ahí está el nuevo requerimiento y el código que heredan.</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8" name="Shape 188"/>
        <p:cNvGrpSpPr/>
        <p:nvPr/>
      </p:nvGrpSpPr>
      <p:grpSpPr>
        <a:xfrm>
          <a:off x="0" y="0"/>
          <a:ext cx="0" cy="0"/>
          <a:chOff x="0" y="0"/>
          <a:chExt cx="0" cy="0"/>
        </a:xfrm>
      </p:grpSpPr>
      <p:sp>
        <p:nvSpPr>
          <p:cNvPr id="189" name="Google Shape;189;p13"/>
          <p:cNvSpPr txBox="1"/>
          <p:nvPr/>
        </p:nvSpPr>
        <p:spPr>
          <a:xfrm>
            <a:off x="548640" y="411480"/>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3400"/>
              <a:buFont typeface="Arial"/>
              <a:buNone/>
            </a:pPr>
            <a:r>
              <a:rPr b="1" i="0" lang="en-US" sz="3400" u="none" cap="none" strike="noStrike">
                <a:solidFill>
                  <a:srgbClr val="1C2733"/>
                </a:solidFill>
                <a:latin typeface="Arial"/>
                <a:ea typeface="Arial"/>
                <a:cs typeface="Arial"/>
                <a:sym typeface="Arial"/>
              </a:rPr>
              <a:t>Referencia: filter, map, reduce</a:t>
            </a:r>
            <a:endParaRPr b="0" i="0" sz="3400" u="none" cap="none" strike="noStrike">
              <a:solidFill>
                <a:schemeClr val="dk1"/>
              </a:solidFill>
              <a:latin typeface="Calibri"/>
              <a:ea typeface="Calibri"/>
              <a:cs typeface="Calibri"/>
              <a:sym typeface="Calibri"/>
            </a:endParaRPr>
          </a:p>
        </p:txBody>
      </p:sp>
      <p:sp>
        <p:nvSpPr>
          <p:cNvPr id="190" name="Google Shape;190;p13"/>
          <p:cNvSpPr/>
          <p:nvPr/>
        </p:nvSpPr>
        <p:spPr>
          <a:xfrm>
            <a:off x="548640" y="1325880"/>
            <a:ext cx="11064240" cy="777240"/>
          </a:xfrm>
          <a:prstGeom prst="roundRect">
            <a:avLst>
              <a:gd fmla="val 14118" name="adj"/>
            </a:avLst>
          </a:prstGeom>
          <a:solidFill>
            <a:srgbClr val="1F2A36"/>
          </a:solidFill>
          <a:ln cap="flat" cmpd="sng" w="12700">
            <a:solidFill>
              <a:srgbClr val="1F2A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3"/>
          <p:cNvSpPr txBox="1"/>
          <p:nvPr/>
        </p:nvSpPr>
        <p:spPr>
          <a:xfrm>
            <a:off x="822960" y="1554480"/>
            <a:ext cx="10515600" cy="32004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E8EDF2"/>
              </a:buClr>
              <a:buSzPts val="2200"/>
              <a:buFont typeface="Courier New"/>
              <a:buNone/>
            </a:pPr>
            <a:r>
              <a:rPr b="0" i="0" lang="en-US" sz="2200" u="none" cap="none" strike="noStrike">
                <a:solidFill>
                  <a:srgbClr val="E8EDF2"/>
                </a:solidFill>
                <a:latin typeface="Courier New"/>
                <a:ea typeface="Courier New"/>
                <a:cs typeface="Courier New"/>
                <a:sym typeface="Courier New"/>
              </a:rPr>
              <a:t>const nums = [1, 2, 3, 4];</a:t>
            </a:r>
            <a:endParaRPr b="0" i="0" sz="2200" u="none" cap="none" strike="noStrike">
              <a:solidFill>
                <a:schemeClr val="dk1"/>
              </a:solidFill>
              <a:latin typeface="Calibri"/>
              <a:ea typeface="Calibri"/>
              <a:cs typeface="Calibri"/>
              <a:sym typeface="Calibri"/>
            </a:endParaRPr>
          </a:p>
        </p:txBody>
      </p:sp>
      <p:sp>
        <p:nvSpPr>
          <p:cNvPr id="192" name="Google Shape;192;p13"/>
          <p:cNvSpPr/>
          <p:nvPr/>
        </p:nvSpPr>
        <p:spPr>
          <a:xfrm>
            <a:off x="548640" y="2377440"/>
            <a:ext cx="11064240" cy="1051560"/>
          </a:xfrm>
          <a:prstGeom prst="roundRect">
            <a:avLst>
              <a:gd fmla="val 10435"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3"/>
          <p:cNvSpPr txBox="1"/>
          <p:nvPr/>
        </p:nvSpPr>
        <p:spPr>
          <a:xfrm>
            <a:off x="822960" y="2514600"/>
            <a:ext cx="20116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9B2D"/>
              </a:buClr>
              <a:buSzPts val="2400"/>
              <a:buFont typeface="Arial"/>
              <a:buNone/>
            </a:pPr>
            <a:r>
              <a:rPr b="1" i="0" lang="en-US" sz="2400" u="none" cap="none" strike="noStrike">
                <a:solidFill>
                  <a:srgbClr val="E39B2D"/>
                </a:solidFill>
                <a:latin typeface="Arial"/>
                <a:ea typeface="Arial"/>
                <a:cs typeface="Arial"/>
                <a:sym typeface="Arial"/>
              </a:rPr>
              <a:t>filter</a:t>
            </a:r>
            <a:endParaRPr b="0" i="0" sz="2400" u="none" cap="none" strike="noStrike">
              <a:solidFill>
                <a:schemeClr val="dk1"/>
              </a:solidFill>
              <a:latin typeface="Calibri"/>
              <a:ea typeface="Calibri"/>
              <a:cs typeface="Calibri"/>
              <a:sym typeface="Calibri"/>
            </a:endParaRPr>
          </a:p>
        </p:txBody>
      </p:sp>
      <p:sp>
        <p:nvSpPr>
          <p:cNvPr id="194" name="Google Shape;194;p13"/>
          <p:cNvSpPr txBox="1"/>
          <p:nvPr/>
        </p:nvSpPr>
        <p:spPr>
          <a:xfrm>
            <a:off x="822960" y="2971800"/>
            <a:ext cx="21031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7A"/>
              </a:buClr>
              <a:buSzPts val="1300"/>
              <a:buFont typeface="Calibri"/>
              <a:buNone/>
            </a:pPr>
            <a:r>
              <a:rPr b="0" i="0" lang="en-US" sz="1300" u="none" cap="none" strike="noStrike">
                <a:solidFill>
                  <a:srgbClr val="5B6B7A"/>
                </a:solidFill>
                <a:latin typeface="Calibri"/>
                <a:ea typeface="Calibri"/>
                <a:cs typeface="Calibri"/>
                <a:sym typeface="Calibri"/>
              </a:rPr>
              <a:t>se queda con los que cumplen</a:t>
            </a:r>
            <a:endParaRPr b="0" i="0" sz="1300" u="none" cap="none" strike="noStrike">
              <a:solidFill>
                <a:schemeClr val="dk1"/>
              </a:solidFill>
              <a:latin typeface="Calibri"/>
              <a:ea typeface="Calibri"/>
              <a:cs typeface="Calibri"/>
              <a:sym typeface="Calibri"/>
            </a:endParaRPr>
          </a:p>
        </p:txBody>
      </p:sp>
      <p:sp>
        <p:nvSpPr>
          <p:cNvPr id="195" name="Google Shape;195;p13"/>
          <p:cNvSpPr txBox="1"/>
          <p:nvPr/>
        </p:nvSpPr>
        <p:spPr>
          <a:xfrm>
            <a:off x="3017520" y="2377440"/>
            <a:ext cx="53949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2000"/>
              <a:buFont typeface="Courier New"/>
              <a:buNone/>
            </a:pPr>
            <a:r>
              <a:rPr b="0" i="0" lang="en-US" sz="2000" u="none" cap="none" strike="noStrike">
                <a:solidFill>
                  <a:srgbClr val="1C2733"/>
                </a:solidFill>
                <a:latin typeface="Courier New"/>
                <a:ea typeface="Courier New"/>
                <a:cs typeface="Courier New"/>
                <a:sym typeface="Courier New"/>
              </a:rPr>
              <a:t>nums.filter(n =&gt; n &gt; 2)</a:t>
            </a:r>
            <a:endParaRPr b="0" i="0" sz="2000" u="none" cap="none" strike="noStrike">
              <a:solidFill>
                <a:schemeClr val="dk1"/>
              </a:solidFill>
              <a:latin typeface="Calibri"/>
              <a:ea typeface="Calibri"/>
              <a:cs typeface="Calibri"/>
              <a:sym typeface="Calibri"/>
            </a:endParaRPr>
          </a:p>
        </p:txBody>
      </p:sp>
      <p:sp>
        <p:nvSpPr>
          <p:cNvPr id="196" name="Google Shape;196;p13"/>
          <p:cNvSpPr txBox="1"/>
          <p:nvPr/>
        </p:nvSpPr>
        <p:spPr>
          <a:xfrm>
            <a:off x="8915400" y="2377440"/>
            <a:ext cx="26517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1800"/>
              <a:buFont typeface="Courier New"/>
              <a:buNone/>
            </a:pPr>
            <a:r>
              <a:rPr b="1" i="0" lang="en-US" sz="1800" u="none" cap="none" strike="noStrike">
                <a:solidFill>
                  <a:srgbClr val="1C2733"/>
                </a:solidFill>
                <a:latin typeface="Courier New"/>
                <a:ea typeface="Courier New"/>
                <a:cs typeface="Courier New"/>
                <a:sym typeface="Courier New"/>
              </a:rPr>
              <a:t>→ [3, 4]</a:t>
            </a:r>
            <a:endParaRPr b="0" i="0" sz="1800" u="none" cap="none" strike="noStrike">
              <a:solidFill>
                <a:schemeClr val="dk1"/>
              </a:solidFill>
              <a:latin typeface="Calibri"/>
              <a:ea typeface="Calibri"/>
              <a:cs typeface="Calibri"/>
              <a:sym typeface="Calibri"/>
            </a:endParaRPr>
          </a:p>
        </p:txBody>
      </p:sp>
      <p:sp>
        <p:nvSpPr>
          <p:cNvPr id="197" name="Google Shape;197;p13"/>
          <p:cNvSpPr/>
          <p:nvPr/>
        </p:nvSpPr>
        <p:spPr>
          <a:xfrm>
            <a:off x="548640" y="3611880"/>
            <a:ext cx="11064240" cy="1051560"/>
          </a:xfrm>
          <a:prstGeom prst="roundRect">
            <a:avLst>
              <a:gd fmla="val 10435"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3"/>
          <p:cNvSpPr txBox="1"/>
          <p:nvPr/>
        </p:nvSpPr>
        <p:spPr>
          <a:xfrm>
            <a:off x="822960" y="3749040"/>
            <a:ext cx="20116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9B2D"/>
              </a:buClr>
              <a:buSzPts val="2400"/>
              <a:buFont typeface="Arial"/>
              <a:buNone/>
            </a:pPr>
            <a:r>
              <a:rPr b="1" i="0" lang="en-US" sz="2400" u="none" cap="none" strike="noStrike">
                <a:solidFill>
                  <a:srgbClr val="E39B2D"/>
                </a:solidFill>
                <a:latin typeface="Arial"/>
                <a:ea typeface="Arial"/>
                <a:cs typeface="Arial"/>
                <a:sym typeface="Arial"/>
              </a:rPr>
              <a:t>map</a:t>
            </a:r>
            <a:endParaRPr b="0" i="0" sz="2400" u="none" cap="none" strike="noStrike">
              <a:solidFill>
                <a:schemeClr val="dk1"/>
              </a:solidFill>
              <a:latin typeface="Calibri"/>
              <a:ea typeface="Calibri"/>
              <a:cs typeface="Calibri"/>
              <a:sym typeface="Calibri"/>
            </a:endParaRPr>
          </a:p>
        </p:txBody>
      </p:sp>
      <p:sp>
        <p:nvSpPr>
          <p:cNvPr id="199" name="Google Shape;199;p13"/>
          <p:cNvSpPr txBox="1"/>
          <p:nvPr/>
        </p:nvSpPr>
        <p:spPr>
          <a:xfrm>
            <a:off x="822960" y="4206240"/>
            <a:ext cx="21031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7A"/>
              </a:buClr>
              <a:buSzPts val="1300"/>
              <a:buFont typeface="Calibri"/>
              <a:buNone/>
            </a:pPr>
            <a:r>
              <a:rPr b="0" i="0" lang="en-US" sz="1300" u="none" cap="none" strike="noStrike">
                <a:solidFill>
                  <a:srgbClr val="5B6B7A"/>
                </a:solidFill>
                <a:latin typeface="Calibri"/>
                <a:ea typeface="Calibri"/>
                <a:cs typeface="Calibri"/>
                <a:sym typeface="Calibri"/>
              </a:rPr>
              <a:t>transforma cada uno</a:t>
            </a:r>
            <a:endParaRPr b="0" i="0" sz="1300" u="none" cap="none" strike="noStrike">
              <a:solidFill>
                <a:schemeClr val="dk1"/>
              </a:solidFill>
              <a:latin typeface="Calibri"/>
              <a:ea typeface="Calibri"/>
              <a:cs typeface="Calibri"/>
              <a:sym typeface="Calibri"/>
            </a:endParaRPr>
          </a:p>
        </p:txBody>
      </p:sp>
      <p:sp>
        <p:nvSpPr>
          <p:cNvPr id="200" name="Google Shape;200;p13"/>
          <p:cNvSpPr txBox="1"/>
          <p:nvPr/>
        </p:nvSpPr>
        <p:spPr>
          <a:xfrm>
            <a:off x="3017520" y="3611880"/>
            <a:ext cx="53949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2000"/>
              <a:buFont typeface="Courier New"/>
              <a:buNone/>
            </a:pPr>
            <a:r>
              <a:rPr b="0" i="0" lang="en-US" sz="2000" u="none" cap="none" strike="noStrike">
                <a:solidFill>
                  <a:srgbClr val="1C2733"/>
                </a:solidFill>
                <a:latin typeface="Courier New"/>
                <a:ea typeface="Courier New"/>
                <a:cs typeface="Courier New"/>
                <a:sym typeface="Courier New"/>
              </a:rPr>
              <a:t>nums.map(n =&gt; n * 10)</a:t>
            </a:r>
            <a:endParaRPr b="0" i="0" sz="2000" u="none" cap="none" strike="noStrike">
              <a:solidFill>
                <a:schemeClr val="dk1"/>
              </a:solidFill>
              <a:latin typeface="Calibri"/>
              <a:ea typeface="Calibri"/>
              <a:cs typeface="Calibri"/>
              <a:sym typeface="Calibri"/>
            </a:endParaRPr>
          </a:p>
        </p:txBody>
      </p:sp>
      <p:sp>
        <p:nvSpPr>
          <p:cNvPr id="201" name="Google Shape;201;p13"/>
          <p:cNvSpPr txBox="1"/>
          <p:nvPr/>
        </p:nvSpPr>
        <p:spPr>
          <a:xfrm>
            <a:off x="8915400" y="3611880"/>
            <a:ext cx="26517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1800"/>
              <a:buFont typeface="Courier New"/>
              <a:buNone/>
            </a:pPr>
            <a:r>
              <a:rPr b="1" i="0" lang="en-US" sz="1800" u="none" cap="none" strike="noStrike">
                <a:solidFill>
                  <a:srgbClr val="1C2733"/>
                </a:solidFill>
                <a:latin typeface="Courier New"/>
                <a:ea typeface="Courier New"/>
                <a:cs typeface="Courier New"/>
                <a:sym typeface="Courier New"/>
              </a:rPr>
              <a:t>→ [10, 20, 30, 40]</a:t>
            </a:r>
            <a:endParaRPr b="0" i="0" sz="1800" u="none" cap="none" strike="noStrike">
              <a:solidFill>
                <a:schemeClr val="dk1"/>
              </a:solidFill>
              <a:latin typeface="Calibri"/>
              <a:ea typeface="Calibri"/>
              <a:cs typeface="Calibri"/>
              <a:sym typeface="Calibri"/>
            </a:endParaRPr>
          </a:p>
        </p:txBody>
      </p:sp>
      <p:sp>
        <p:nvSpPr>
          <p:cNvPr id="202" name="Google Shape;202;p13"/>
          <p:cNvSpPr/>
          <p:nvPr/>
        </p:nvSpPr>
        <p:spPr>
          <a:xfrm>
            <a:off x="548640" y="4846320"/>
            <a:ext cx="11064240" cy="1051560"/>
          </a:xfrm>
          <a:prstGeom prst="roundRect">
            <a:avLst>
              <a:gd fmla="val 10435"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3"/>
          <p:cNvSpPr txBox="1"/>
          <p:nvPr/>
        </p:nvSpPr>
        <p:spPr>
          <a:xfrm>
            <a:off x="822960" y="4983480"/>
            <a:ext cx="20116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9B2D"/>
              </a:buClr>
              <a:buSzPts val="2400"/>
              <a:buFont typeface="Arial"/>
              <a:buNone/>
            </a:pPr>
            <a:r>
              <a:rPr b="1" i="0" lang="en-US" sz="2400" u="none" cap="none" strike="noStrike">
                <a:solidFill>
                  <a:srgbClr val="E39B2D"/>
                </a:solidFill>
                <a:latin typeface="Arial"/>
                <a:ea typeface="Arial"/>
                <a:cs typeface="Arial"/>
                <a:sym typeface="Arial"/>
              </a:rPr>
              <a:t>reduce</a:t>
            </a:r>
            <a:endParaRPr b="0" i="0" sz="2400" u="none" cap="none" strike="noStrike">
              <a:solidFill>
                <a:schemeClr val="dk1"/>
              </a:solidFill>
              <a:latin typeface="Calibri"/>
              <a:ea typeface="Calibri"/>
              <a:cs typeface="Calibri"/>
              <a:sym typeface="Calibri"/>
            </a:endParaRPr>
          </a:p>
        </p:txBody>
      </p:sp>
      <p:sp>
        <p:nvSpPr>
          <p:cNvPr id="204" name="Google Shape;204;p13"/>
          <p:cNvSpPr txBox="1"/>
          <p:nvPr/>
        </p:nvSpPr>
        <p:spPr>
          <a:xfrm>
            <a:off x="822960" y="5440680"/>
            <a:ext cx="21031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7A"/>
              </a:buClr>
              <a:buSzPts val="1300"/>
              <a:buFont typeface="Calibri"/>
              <a:buNone/>
            </a:pPr>
            <a:r>
              <a:rPr b="0" i="0" lang="en-US" sz="1300" u="none" cap="none" strike="noStrike">
                <a:solidFill>
                  <a:srgbClr val="5B6B7A"/>
                </a:solidFill>
                <a:latin typeface="Calibri"/>
                <a:ea typeface="Calibri"/>
                <a:cs typeface="Calibri"/>
                <a:sym typeface="Calibri"/>
              </a:rPr>
              <a:t>acumula en un solo valor</a:t>
            </a:r>
            <a:endParaRPr b="0" i="0" sz="1300" u="none" cap="none" strike="noStrike">
              <a:solidFill>
                <a:schemeClr val="dk1"/>
              </a:solidFill>
              <a:latin typeface="Calibri"/>
              <a:ea typeface="Calibri"/>
              <a:cs typeface="Calibri"/>
              <a:sym typeface="Calibri"/>
            </a:endParaRPr>
          </a:p>
        </p:txBody>
      </p:sp>
      <p:sp>
        <p:nvSpPr>
          <p:cNvPr id="205" name="Google Shape;205;p13"/>
          <p:cNvSpPr txBox="1"/>
          <p:nvPr/>
        </p:nvSpPr>
        <p:spPr>
          <a:xfrm>
            <a:off x="3017520" y="4846320"/>
            <a:ext cx="53949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2000"/>
              <a:buFont typeface="Courier New"/>
              <a:buNone/>
            </a:pPr>
            <a:r>
              <a:rPr b="0" i="0" lang="en-US" sz="2000" u="none" cap="none" strike="noStrike">
                <a:solidFill>
                  <a:srgbClr val="1C2733"/>
                </a:solidFill>
                <a:latin typeface="Courier New"/>
                <a:ea typeface="Courier New"/>
                <a:cs typeface="Courier New"/>
                <a:sym typeface="Courier New"/>
              </a:rPr>
              <a:t>nums.reduce((acc, n) =&gt; acc + n, 0)</a:t>
            </a:r>
            <a:endParaRPr b="0" i="0" sz="2000" u="none" cap="none" strike="noStrike">
              <a:solidFill>
                <a:schemeClr val="dk1"/>
              </a:solidFill>
              <a:latin typeface="Calibri"/>
              <a:ea typeface="Calibri"/>
              <a:cs typeface="Calibri"/>
              <a:sym typeface="Calibri"/>
            </a:endParaRPr>
          </a:p>
        </p:txBody>
      </p:sp>
      <p:sp>
        <p:nvSpPr>
          <p:cNvPr id="206" name="Google Shape;206;p13"/>
          <p:cNvSpPr txBox="1"/>
          <p:nvPr/>
        </p:nvSpPr>
        <p:spPr>
          <a:xfrm>
            <a:off x="8915400" y="4846320"/>
            <a:ext cx="26517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1800"/>
              <a:buFont typeface="Courier New"/>
              <a:buNone/>
            </a:pPr>
            <a:r>
              <a:rPr b="1" i="0" lang="en-US" sz="1800" u="none" cap="none" strike="noStrike">
                <a:solidFill>
                  <a:srgbClr val="1C2733"/>
                </a:solidFill>
                <a:latin typeface="Courier New"/>
                <a:ea typeface="Courier New"/>
                <a:cs typeface="Courier New"/>
                <a:sym typeface="Courier New"/>
              </a:rPr>
              <a:t>→ 10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sp>
        <p:nvSpPr>
          <p:cNvPr id="212" name="Google Shape;212;p14"/>
          <p:cNvSpPr txBox="1"/>
          <p:nvPr/>
        </p:nvSpPr>
        <p:spPr>
          <a:xfrm>
            <a:off x="548640" y="411480"/>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3400"/>
              <a:buFont typeface="Arial"/>
              <a:buNone/>
            </a:pPr>
            <a:r>
              <a:rPr b="1" i="0" lang="en-US" sz="3400" u="none" cap="none" strike="noStrike">
                <a:solidFill>
                  <a:srgbClr val="1C2733"/>
                </a:solidFill>
                <a:latin typeface="Arial"/>
                <a:ea typeface="Arial"/>
                <a:cs typeface="Arial"/>
                <a:sym typeface="Arial"/>
              </a:rPr>
              <a:t>¿Qué pasó?</a:t>
            </a:r>
            <a:endParaRPr b="0" i="0" sz="3400" u="none" cap="none" strike="noStrike">
              <a:solidFill>
                <a:schemeClr val="dk1"/>
              </a:solidFill>
              <a:latin typeface="Calibri"/>
              <a:ea typeface="Calibri"/>
              <a:cs typeface="Calibri"/>
              <a:sym typeface="Calibri"/>
            </a:endParaRPr>
          </a:p>
        </p:txBody>
      </p:sp>
      <p:sp>
        <p:nvSpPr>
          <p:cNvPr id="213" name="Google Shape;213;p14"/>
          <p:cNvSpPr/>
          <p:nvPr/>
        </p:nvSpPr>
        <p:spPr>
          <a:xfrm>
            <a:off x="548640" y="1645920"/>
            <a:ext cx="11064240" cy="1188720"/>
          </a:xfrm>
          <a:prstGeom prst="roundRect">
            <a:avLst>
              <a:gd fmla="val 9231"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4"/>
          <p:cNvSpPr/>
          <p:nvPr/>
        </p:nvSpPr>
        <p:spPr>
          <a:xfrm>
            <a:off x="868680" y="1920240"/>
            <a:ext cx="640080" cy="640080"/>
          </a:xfrm>
          <a:prstGeom prst="ellipse">
            <a:avLst/>
          </a:prstGeom>
          <a:solidFill>
            <a:srgbClr val="E39B2D"/>
          </a:solidFill>
          <a:ln cap="flat" cmpd="sng" w="12700">
            <a:solidFill>
              <a:srgbClr val="E39B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4"/>
          <p:cNvSpPr txBox="1"/>
          <p:nvPr/>
        </p:nvSpPr>
        <p:spPr>
          <a:xfrm>
            <a:off x="868680" y="192024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Arial"/>
              <a:buNone/>
            </a:pPr>
            <a:r>
              <a:rPr b="1" i="0" lang="en-US" sz="2400" u="none" cap="none" strike="noStrike">
                <a:solidFill>
                  <a:srgbClr val="FFFFFF"/>
                </a:solidFill>
                <a:latin typeface="Arial"/>
                <a:ea typeface="Arial"/>
                <a:cs typeface="Arial"/>
                <a:sym typeface="Arial"/>
              </a:rPr>
              <a:t>1</a:t>
            </a:r>
            <a:endParaRPr b="0" i="0" sz="2400" u="none" cap="none" strike="noStrike">
              <a:solidFill>
                <a:schemeClr val="dk1"/>
              </a:solidFill>
              <a:latin typeface="Calibri"/>
              <a:ea typeface="Calibri"/>
              <a:cs typeface="Calibri"/>
              <a:sym typeface="Calibri"/>
            </a:endParaRPr>
          </a:p>
        </p:txBody>
      </p:sp>
      <p:sp>
        <p:nvSpPr>
          <p:cNvPr id="216" name="Google Shape;216;p14"/>
          <p:cNvSpPr txBox="1"/>
          <p:nvPr/>
        </p:nvSpPr>
        <p:spPr>
          <a:xfrm>
            <a:off x="1828800" y="1645920"/>
            <a:ext cx="950976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2800"/>
              <a:buFont typeface="Arial"/>
              <a:buNone/>
            </a:pPr>
            <a:r>
              <a:rPr b="0" i="0" lang="en-US" sz="2800" u="none" cap="none" strike="noStrike">
                <a:solidFill>
                  <a:srgbClr val="1C2733"/>
                </a:solidFill>
                <a:latin typeface="Arial"/>
                <a:ea typeface="Arial"/>
                <a:cs typeface="Arial"/>
                <a:sym typeface="Arial"/>
              </a:rPr>
              <a:t>¿Qué encontraron al abrir el código heredado?</a:t>
            </a:r>
            <a:endParaRPr b="0" i="0" sz="2800" u="none" cap="none" strike="noStrike">
              <a:solidFill>
                <a:schemeClr val="dk1"/>
              </a:solidFill>
              <a:latin typeface="Calibri"/>
              <a:ea typeface="Calibri"/>
              <a:cs typeface="Calibri"/>
              <a:sym typeface="Calibri"/>
            </a:endParaRPr>
          </a:p>
        </p:txBody>
      </p:sp>
      <p:sp>
        <p:nvSpPr>
          <p:cNvPr id="217" name="Google Shape;217;p14"/>
          <p:cNvSpPr/>
          <p:nvPr/>
        </p:nvSpPr>
        <p:spPr>
          <a:xfrm>
            <a:off x="548640" y="3200400"/>
            <a:ext cx="11064240" cy="1188720"/>
          </a:xfrm>
          <a:prstGeom prst="roundRect">
            <a:avLst>
              <a:gd fmla="val 9231"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4"/>
          <p:cNvSpPr/>
          <p:nvPr/>
        </p:nvSpPr>
        <p:spPr>
          <a:xfrm>
            <a:off x="868680" y="3474720"/>
            <a:ext cx="640080" cy="640080"/>
          </a:xfrm>
          <a:prstGeom prst="ellipse">
            <a:avLst/>
          </a:prstGeom>
          <a:solidFill>
            <a:srgbClr val="E39B2D"/>
          </a:solidFill>
          <a:ln cap="flat" cmpd="sng" w="12700">
            <a:solidFill>
              <a:srgbClr val="E39B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4"/>
          <p:cNvSpPr txBox="1"/>
          <p:nvPr/>
        </p:nvSpPr>
        <p:spPr>
          <a:xfrm>
            <a:off x="868680" y="347472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Arial"/>
              <a:buNone/>
            </a:pPr>
            <a:r>
              <a:rPr b="1" i="0" lang="en-US" sz="2400" u="none" cap="none" strike="noStrike">
                <a:solidFill>
                  <a:srgbClr val="FFFFFF"/>
                </a:solidFill>
                <a:latin typeface="Arial"/>
                <a:ea typeface="Arial"/>
                <a:cs typeface="Arial"/>
                <a:sym typeface="Arial"/>
              </a:rPr>
              <a:t>2</a:t>
            </a:r>
            <a:endParaRPr b="0" i="0" sz="2400" u="none" cap="none" strike="noStrike">
              <a:solidFill>
                <a:schemeClr val="dk1"/>
              </a:solidFill>
              <a:latin typeface="Calibri"/>
              <a:ea typeface="Calibri"/>
              <a:cs typeface="Calibri"/>
              <a:sym typeface="Calibri"/>
            </a:endParaRPr>
          </a:p>
        </p:txBody>
      </p:sp>
      <p:sp>
        <p:nvSpPr>
          <p:cNvPr id="220" name="Google Shape;220;p14"/>
          <p:cNvSpPr txBox="1"/>
          <p:nvPr/>
        </p:nvSpPr>
        <p:spPr>
          <a:xfrm>
            <a:off x="1828800" y="3200400"/>
            <a:ext cx="950976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2800"/>
              <a:buFont typeface="Arial"/>
              <a:buNone/>
            </a:pPr>
            <a:r>
              <a:rPr b="0" i="0" lang="en-US" sz="2800" u="none" cap="none" strike="noStrike">
                <a:solidFill>
                  <a:srgbClr val="1C2733"/>
                </a:solidFill>
                <a:latin typeface="Arial"/>
                <a:ea typeface="Arial"/>
                <a:cs typeface="Arial"/>
                <a:sym typeface="Arial"/>
              </a:rPr>
              <a:t>¿Qué fue lo primero que hicieron?</a:t>
            </a:r>
            <a:endParaRPr b="0" i="0" sz="2800" u="none" cap="none" strike="noStrike">
              <a:solidFill>
                <a:schemeClr val="dk1"/>
              </a:solidFill>
              <a:latin typeface="Calibri"/>
              <a:ea typeface="Calibri"/>
              <a:cs typeface="Calibri"/>
              <a:sym typeface="Calibri"/>
            </a:endParaRPr>
          </a:p>
        </p:txBody>
      </p:sp>
      <p:sp>
        <p:nvSpPr>
          <p:cNvPr id="221" name="Google Shape;221;p14"/>
          <p:cNvSpPr/>
          <p:nvPr/>
        </p:nvSpPr>
        <p:spPr>
          <a:xfrm>
            <a:off x="548640" y="4754880"/>
            <a:ext cx="11064240" cy="1188720"/>
          </a:xfrm>
          <a:prstGeom prst="roundRect">
            <a:avLst>
              <a:gd fmla="val 9231"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4"/>
          <p:cNvSpPr/>
          <p:nvPr/>
        </p:nvSpPr>
        <p:spPr>
          <a:xfrm>
            <a:off x="868680" y="5029200"/>
            <a:ext cx="640080" cy="640080"/>
          </a:xfrm>
          <a:prstGeom prst="ellipse">
            <a:avLst/>
          </a:prstGeom>
          <a:solidFill>
            <a:srgbClr val="E39B2D"/>
          </a:solidFill>
          <a:ln cap="flat" cmpd="sng" w="12700">
            <a:solidFill>
              <a:srgbClr val="E39B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4"/>
          <p:cNvSpPr txBox="1"/>
          <p:nvPr/>
        </p:nvSpPr>
        <p:spPr>
          <a:xfrm>
            <a:off x="868680" y="502920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Arial"/>
              <a:buNone/>
            </a:pPr>
            <a:r>
              <a:rPr b="1" i="0" lang="en-US" sz="2400" u="none" cap="none" strike="noStrike">
                <a:solidFill>
                  <a:srgbClr val="FFFFFF"/>
                </a:solidFill>
                <a:latin typeface="Arial"/>
                <a:ea typeface="Arial"/>
                <a:cs typeface="Arial"/>
                <a:sym typeface="Arial"/>
              </a:rPr>
              <a:t>3</a:t>
            </a:r>
            <a:endParaRPr b="0" i="0" sz="2400" u="none" cap="none" strike="noStrike">
              <a:solidFill>
                <a:schemeClr val="dk1"/>
              </a:solidFill>
              <a:latin typeface="Calibri"/>
              <a:ea typeface="Calibri"/>
              <a:cs typeface="Calibri"/>
              <a:sym typeface="Calibri"/>
            </a:endParaRPr>
          </a:p>
        </p:txBody>
      </p:sp>
      <p:sp>
        <p:nvSpPr>
          <p:cNvPr id="224" name="Google Shape;224;p14"/>
          <p:cNvSpPr txBox="1"/>
          <p:nvPr/>
        </p:nvSpPr>
        <p:spPr>
          <a:xfrm>
            <a:off x="1828800" y="4754880"/>
            <a:ext cx="950976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2800"/>
              <a:buFont typeface="Arial"/>
              <a:buNone/>
            </a:pPr>
            <a:r>
              <a:rPr b="0" i="0" lang="en-US" sz="2800" u="none" cap="none" strike="noStrike">
                <a:solidFill>
                  <a:srgbClr val="1C2733"/>
                </a:solidFill>
                <a:latin typeface="Arial"/>
                <a:ea typeface="Arial"/>
                <a:cs typeface="Arial"/>
                <a:sym typeface="Arial"/>
              </a:rPr>
              <a:t>¿Qué les costó, o qué no les costó?</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sp>
        <p:nvSpPr>
          <p:cNvPr id="230" name="Google Shape;230;p15"/>
          <p:cNvSpPr txBox="1"/>
          <p:nvPr/>
        </p:nvSpPr>
        <p:spPr>
          <a:xfrm>
            <a:off x="548640" y="411480"/>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3400"/>
              <a:buFont typeface="Arial"/>
              <a:buNone/>
            </a:pPr>
            <a:r>
              <a:rPr b="1" i="0" lang="en-US" sz="3400" u="none" cap="none" strike="noStrike">
                <a:solidFill>
                  <a:srgbClr val="1C2733"/>
                </a:solidFill>
                <a:latin typeface="Arial"/>
                <a:ea typeface="Arial"/>
                <a:cs typeface="Arial"/>
                <a:sym typeface="Arial"/>
              </a:rPr>
              <a:t>Colecciones de Primera Clase</a:t>
            </a:r>
            <a:endParaRPr b="0" i="0" sz="3400" u="none" cap="none" strike="noStrike">
              <a:solidFill>
                <a:schemeClr val="dk1"/>
              </a:solidFill>
              <a:latin typeface="Calibri"/>
              <a:ea typeface="Calibri"/>
              <a:cs typeface="Calibri"/>
              <a:sym typeface="Calibri"/>
            </a:endParaRPr>
          </a:p>
        </p:txBody>
      </p:sp>
      <p:sp>
        <p:nvSpPr>
          <p:cNvPr id="231" name="Google Shape;231;p15"/>
          <p:cNvSpPr/>
          <p:nvPr/>
        </p:nvSpPr>
        <p:spPr>
          <a:xfrm>
            <a:off x="548640" y="1325880"/>
            <a:ext cx="5394960" cy="548640"/>
          </a:xfrm>
          <a:prstGeom prst="roundRect">
            <a:avLst>
              <a:gd fmla="val 20000" name="adj"/>
            </a:avLst>
          </a:prstGeom>
          <a:solidFill>
            <a:srgbClr val="FBEBD0"/>
          </a:solidFill>
          <a:ln cap="flat" cmpd="sng" w="12700">
            <a:solidFill>
              <a:srgbClr val="FBE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5"/>
          <p:cNvSpPr/>
          <p:nvPr/>
        </p:nvSpPr>
        <p:spPr>
          <a:xfrm>
            <a:off x="6217920" y="1325880"/>
            <a:ext cx="5394960" cy="548640"/>
          </a:xfrm>
          <a:prstGeom prst="roundRect">
            <a:avLst>
              <a:gd fmla="val 20000" name="adj"/>
            </a:avLst>
          </a:prstGeom>
          <a:solidFill>
            <a:srgbClr val="FBEBD0"/>
          </a:solidFill>
          <a:ln cap="flat" cmpd="sng" w="12700">
            <a:solidFill>
              <a:srgbClr val="FBEB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5"/>
          <p:cNvSpPr txBox="1"/>
          <p:nvPr/>
        </p:nvSpPr>
        <p:spPr>
          <a:xfrm>
            <a:off x="548640" y="1325880"/>
            <a:ext cx="539496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733"/>
              </a:buClr>
              <a:buSzPts val="2000"/>
              <a:buFont typeface="Calibri"/>
              <a:buNone/>
            </a:pPr>
            <a:r>
              <a:rPr b="0" i="0" lang="en-US" sz="2000" u="none" cap="none" strike="noStrike">
                <a:solidFill>
                  <a:srgbClr val="1C2733"/>
                </a:solidFill>
                <a:latin typeface="Calibri"/>
                <a:ea typeface="Calibri"/>
                <a:cs typeface="Calibri"/>
                <a:sym typeface="Calibri"/>
              </a:rPr>
              <a:t>Invariante: solo cuentan las aprobadas</a:t>
            </a:r>
            <a:endParaRPr b="0" i="0" sz="2000" u="none" cap="none" strike="noStrike">
              <a:solidFill>
                <a:schemeClr val="dk1"/>
              </a:solidFill>
              <a:latin typeface="Calibri"/>
              <a:ea typeface="Calibri"/>
              <a:cs typeface="Calibri"/>
              <a:sym typeface="Calibri"/>
            </a:endParaRPr>
          </a:p>
        </p:txBody>
      </p:sp>
      <p:sp>
        <p:nvSpPr>
          <p:cNvPr id="234" name="Google Shape;234;p15"/>
          <p:cNvSpPr txBox="1"/>
          <p:nvPr/>
        </p:nvSpPr>
        <p:spPr>
          <a:xfrm>
            <a:off x="6217920" y="1325880"/>
            <a:ext cx="539496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C2733"/>
              </a:buClr>
              <a:buSzPts val="2000"/>
              <a:buFont typeface="Calibri"/>
              <a:buNone/>
            </a:pPr>
            <a:r>
              <a:rPr b="0" i="0" lang="en-US" sz="2000" u="none" cap="none" strike="noStrike">
                <a:solidFill>
                  <a:srgbClr val="1C2733"/>
                </a:solidFill>
                <a:latin typeface="Calibri"/>
                <a:ea typeface="Calibri"/>
                <a:cs typeface="Calibri"/>
                <a:sym typeface="Calibri"/>
              </a:rPr>
              <a:t>Invariante: todo se expresa en pesos</a:t>
            </a:r>
            <a:endParaRPr b="0" i="0" sz="2000" u="none" cap="none" strike="noStrike">
              <a:solidFill>
                <a:schemeClr val="dk1"/>
              </a:solidFill>
              <a:latin typeface="Calibri"/>
              <a:ea typeface="Calibri"/>
              <a:cs typeface="Calibri"/>
              <a:sym typeface="Calibri"/>
            </a:endParaRPr>
          </a:p>
        </p:txBody>
      </p:sp>
      <p:sp>
        <p:nvSpPr>
          <p:cNvPr id="235" name="Google Shape;235;p15"/>
          <p:cNvSpPr txBox="1"/>
          <p:nvPr/>
        </p:nvSpPr>
        <p:spPr>
          <a:xfrm>
            <a:off x="548640" y="2103120"/>
            <a:ext cx="53949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733"/>
              </a:buClr>
              <a:buSzPts val="2200"/>
              <a:buFont typeface="Arial"/>
              <a:buNone/>
            </a:pPr>
            <a:r>
              <a:rPr b="1" i="0" lang="en-US" sz="2200" u="none" cap="none" strike="noStrike">
                <a:solidFill>
                  <a:srgbClr val="1C2733"/>
                </a:solidFill>
                <a:latin typeface="Arial"/>
                <a:ea typeface="Arial"/>
                <a:cs typeface="Arial"/>
                <a:sym typeface="Arial"/>
              </a:rPr>
              <a:t>Script</a:t>
            </a:r>
            <a:endParaRPr b="0" i="0" sz="2200" u="none" cap="none" strike="noStrike">
              <a:solidFill>
                <a:schemeClr val="dk1"/>
              </a:solidFill>
              <a:latin typeface="Calibri"/>
              <a:ea typeface="Calibri"/>
              <a:cs typeface="Calibri"/>
              <a:sym typeface="Calibri"/>
            </a:endParaRPr>
          </a:p>
        </p:txBody>
      </p:sp>
      <p:sp>
        <p:nvSpPr>
          <p:cNvPr id="236" name="Google Shape;236;p15"/>
          <p:cNvSpPr txBox="1"/>
          <p:nvPr/>
        </p:nvSpPr>
        <p:spPr>
          <a:xfrm>
            <a:off x="6217920" y="2103120"/>
            <a:ext cx="539496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733"/>
              </a:buClr>
              <a:buSzPts val="2200"/>
              <a:buFont typeface="Arial"/>
              <a:buNone/>
            </a:pPr>
            <a:r>
              <a:rPr b="1" i="0" lang="en-US" sz="2200" u="none" cap="none" strike="noStrike">
                <a:solidFill>
                  <a:srgbClr val="1C2733"/>
                </a:solidFill>
                <a:latin typeface="Arial"/>
                <a:ea typeface="Arial"/>
                <a:cs typeface="Arial"/>
                <a:sym typeface="Arial"/>
              </a:rPr>
              <a:t>Clase</a:t>
            </a:r>
            <a:endParaRPr b="0" i="0" sz="2200" u="none" cap="none" strike="noStrike">
              <a:solidFill>
                <a:schemeClr val="dk1"/>
              </a:solidFill>
              <a:latin typeface="Calibri"/>
              <a:ea typeface="Calibri"/>
              <a:cs typeface="Calibri"/>
              <a:sym typeface="Calibri"/>
            </a:endParaRPr>
          </a:p>
        </p:txBody>
      </p:sp>
      <p:sp>
        <p:nvSpPr>
          <p:cNvPr id="237" name="Google Shape;237;p15"/>
          <p:cNvSpPr/>
          <p:nvPr/>
        </p:nvSpPr>
        <p:spPr>
          <a:xfrm>
            <a:off x="548640" y="2560320"/>
            <a:ext cx="5394960" cy="2560320"/>
          </a:xfrm>
          <a:prstGeom prst="roundRect">
            <a:avLst>
              <a:gd fmla="val 4286" name="adj"/>
            </a:avLst>
          </a:prstGeom>
          <a:solidFill>
            <a:srgbClr val="1F2A36"/>
          </a:solidFill>
          <a:ln cap="flat" cmpd="sng" w="12700">
            <a:solidFill>
              <a:srgbClr val="1F2A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5"/>
          <p:cNvSpPr txBox="1"/>
          <p:nvPr/>
        </p:nvSpPr>
        <p:spPr>
          <a:xfrm>
            <a:off x="822960" y="2788920"/>
            <a:ext cx="4846320" cy="21031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E8EDF2"/>
              </a:buClr>
              <a:buSzPts val="1800"/>
              <a:buFont typeface="Courier New"/>
              <a:buNone/>
            </a:pPr>
            <a:r>
              <a:rPr b="0" i="0" lang="en-US" sz="1800" u="none" cap="none" strike="noStrike">
                <a:solidFill>
                  <a:srgbClr val="E8EDF2"/>
                </a:solidFill>
                <a:latin typeface="Courier New"/>
                <a:ea typeface="Courier New"/>
                <a:cs typeface="Courier New"/>
                <a:sym typeface="Courier New"/>
              </a:rPr>
              <a:t>const aprobadas = lote.filter(t =&gt;</a:t>
            </a:r>
            <a:endParaRPr b="0" i="0" sz="18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800"/>
              <a:buFont typeface="Courier New"/>
              <a:buNone/>
            </a:pPr>
            <a:r>
              <a:rPr b="0" i="0" lang="en-US" sz="1800" u="none" cap="none" strike="noStrike">
                <a:solidFill>
                  <a:srgbClr val="E8EDF2"/>
                </a:solidFill>
                <a:latin typeface="Courier New"/>
                <a:ea typeface="Courier New"/>
                <a:cs typeface="Courier New"/>
                <a:sym typeface="Courier New"/>
              </a:rPr>
              <a:t>  t.estado === 'APROBADA');</a:t>
            </a:r>
            <a:endParaRPr b="0" i="0" sz="18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800"/>
              <a:buFont typeface="Courier New"/>
              <a:buNone/>
            </a:pPr>
            <a:r>
              <a:rPr b="0" i="0" lang="en-US" sz="1800" u="none" cap="none" strike="noStrike">
                <a:solidFill>
                  <a:srgbClr val="E8EDF2"/>
                </a:solidFill>
                <a:latin typeface="Courier New"/>
                <a:ea typeface="Courier New"/>
                <a:cs typeface="Courier New"/>
                <a:sym typeface="Courier New"/>
              </a:rPr>
              <a:t>const montos = aprobadas.map(t =&gt;</a:t>
            </a:r>
            <a:endParaRPr b="0" i="0" sz="18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800"/>
              <a:buFont typeface="Courier New"/>
              <a:buNone/>
            </a:pPr>
            <a:r>
              <a:rPr b="0" i="0" lang="en-US" sz="1800" u="none" cap="none" strike="noStrike">
                <a:solidFill>
                  <a:srgbClr val="E8EDF2"/>
                </a:solidFill>
                <a:latin typeface="Courier New"/>
                <a:ea typeface="Courier New"/>
                <a:cs typeface="Courier New"/>
                <a:sym typeface="Courier New"/>
              </a:rPr>
              <a:t>  t.moneda === 'USD'</a:t>
            </a:r>
            <a:endParaRPr b="0" i="0" sz="18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800"/>
              <a:buFont typeface="Courier New"/>
              <a:buNone/>
            </a:pPr>
            <a:r>
              <a:rPr b="0" i="0" lang="en-US" sz="1800" u="none" cap="none" strike="noStrike">
                <a:solidFill>
                  <a:srgbClr val="E8EDF2"/>
                </a:solidFill>
                <a:latin typeface="Courier New"/>
                <a:ea typeface="Courier New"/>
                <a:cs typeface="Courier New"/>
                <a:sym typeface="Courier New"/>
              </a:rPr>
              <a:t>    ? t.monto * 1000</a:t>
            </a:r>
            <a:endParaRPr b="0" i="0" sz="18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800"/>
              <a:buFont typeface="Courier New"/>
              <a:buNone/>
            </a:pPr>
            <a:r>
              <a:rPr b="0" i="0" lang="en-US" sz="1800" u="none" cap="none" strike="noStrike">
                <a:solidFill>
                  <a:srgbClr val="E8EDF2"/>
                </a:solidFill>
                <a:latin typeface="Courier New"/>
                <a:ea typeface="Courier New"/>
                <a:cs typeface="Courier New"/>
                <a:sym typeface="Courier New"/>
              </a:rPr>
              <a:t>    : t.monto);</a:t>
            </a:r>
            <a:endParaRPr b="0" i="0" sz="1800" u="none" cap="none" strike="noStrike">
              <a:solidFill>
                <a:schemeClr val="dk1"/>
              </a:solidFill>
              <a:latin typeface="Calibri"/>
              <a:ea typeface="Calibri"/>
              <a:cs typeface="Calibri"/>
              <a:sym typeface="Calibri"/>
            </a:endParaRPr>
          </a:p>
        </p:txBody>
      </p:sp>
      <p:sp>
        <p:nvSpPr>
          <p:cNvPr id="239" name="Google Shape;239;p15"/>
          <p:cNvSpPr/>
          <p:nvPr/>
        </p:nvSpPr>
        <p:spPr>
          <a:xfrm>
            <a:off x="6217920" y="2560320"/>
            <a:ext cx="5394960" cy="2560320"/>
          </a:xfrm>
          <a:prstGeom prst="roundRect">
            <a:avLst>
              <a:gd fmla="val 4286" name="adj"/>
            </a:avLst>
          </a:prstGeom>
          <a:solidFill>
            <a:srgbClr val="1F2A36"/>
          </a:solidFill>
          <a:ln cap="flat" cmpd="sng" w="12700">
            <a:solidFill>
              <a:srgbClr val="1F2A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5"/>
          <p:cNvSpPr txBox="1"/>
          <p:nvPr/>
        </p:nvSpPr>
        <p:spPr>
          <a:xfrm>
            <a:off x="6492240" y="2788920"/>
            <a:ext cx="4846320" cy="21031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E8EDF2"/>
              </a:buClr>
              <a:buSzPts val="1800"/>
              <a:buFont typeface="Courier New"/>
              <a:buNone/>
            </a:pPr>
            <a:r>
              <a:rPr b="0" i="0" lang="en-US" sz="1800" u="none" cap="none" strike="noStrike">
                <a:solidFill>
                  <a:srgbClr val="E8EDF2"/>
                </a:solidFill>
                <a:latin typeface="Courier New"/>
                <a:ea typeface="Courier New"/>
                <a:cs typeface="Courier New"/>
                <a:sym typeface="Courier New"/>
              </a:rPr>
              <a:t>class LoteDeTransacciones {</a:t>
            </a:r>
            <a:endParaRPr b="0" i="0" sz="18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2B656"/>
              </a:buClr>
              <a:buSzPts val="1800"/>
              <a:buFont typeface="Courier New"/>
              <a:buNone/>
            </a:pPr>
            <a:r>
              <a:rPr b="0" i="0" lang="en-US" sz="1800" u="none" cap="none" strike="noStrike">
                <a:solidFill>
                  <a:srgbClr val="F2B656"/>
                </a:solidFill>
                <a:latin typeface="Courier New"/>
                <a:ea typeface="Courier New"/>
                <a:cs typeface="Courier New"/>
                <a:sym typeface="Courier New"/>
              </a:rPr>
              <a:t>  private esValida(t) { … }</a:t>
            </a:r>
            <a:endParaRPr b="0" i="0" sz="18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2B656"/>
              </a:buClr>
              <a:buSzPts val="1800"/>
              <a:buFont typeface="Courier New"/>
              <a:buNone/>
            </a:pPr>
            <a:r>
              <a:rPr b="0" i="0" lang="en-US" sz="1800" u="none" cap="none" strike="noStrike">
                <a:solidFill>
                  <a:srgbClr val="F2B656"/>
                </a:solidFill>
                <a:latin typeface="Courier New"/>
                <a:ea typeface="Courier New"/>
                <a:cs typeface="Courier New"/>
                <a:sym typeface="Courier New"/>
              </a:rPr>
              <a:t>  private aPesos(t) { … }</a:t>
            </a:r>
            <a:endParaRPr b="0" i="0" sz="18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800"/>
              <a:buFont typeface="Courier New"/>
              <a:buNone/>
            </a:pPr>
            <a:r>
              <a:rPr b="0" i="0" lang="en-US" sz="1800" u="none" cap="none" strike="noStrike">
                <a:solidFill>
                  <a:srgbClr val="E8EDF2"/>
                </a:solidFill>
                <a:latin typeface="Courier New"/>
                <a:ea typeface="Courier New"/>
                <a:cs typeface="Courier New"/>
                <a:sym typeface="Courier New"/>
              </a:rPr>
              <a:t> </a:t>
            </a:r>
            <a:endParaRPr b="0" i="0" sz="18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800"/>
              <a:buFont typeface="Courier New"/>
              <a:buNone/>
            </a:pPr>
            <a:r>
              <a:rPr b="0" i="0" lang="en-US" sz="1800" u="none" cap="none" strike="noStrike">
                <a:solidFill>
                  <a:srgbClr val="E8EDF2"/>
                </a:solidFill>
                <a:latin typeface="Courier New"/>
                <a:ea typeface="Courier New"/>
                <a:cs typeface="Courier New"/>
                <a:sym typeface="Courier New"/>
              </a:rPr>
              <a:t>  totalNetoARS() { … }</a:t>
            </a:r>
            <a:endParaRPr b="0" i="0" sz="18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800"/>
              <a:buFont typeface="Courier New"/>
              <a:buNone/>
            </a:pPr>
            <a:r>
              <a:rPr b="0" i="0" lang="en-US" sz="1800" u="none" cap="none" strike="noStrike">
                <a:solidFill>
                  <a:srgbClr val="E8EDF2"/>
                </a:solidFill>
                <a:latin typeface="Courier New"/>
                <a:ea typeface="Courier New"/>
                <a:cs typeface="Courier New"/>
                <a:sym typeface="Courier New"/>
              </a:rPr>
              <a:t>  promedioARS() { … }</a:t>
            </a:r>
            <a:endParaRPr b="0" i="0" sz="18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800"/>
              <a:buFont typeface="Courier New"/>
              <a:buNone/>
            </a:pPr>
            <a:r>
              <a:rPr b="0" i="0" lang="en-US" sz="1800" u="none" cap="none" strike="noStrike">
                <a:solidFill>
                  <a:srgbClr val="E8EDF2"/>
                </a:solidFill>
                <a:latin typeface="Courier New"/>
                <a:ea typeface="Courier New"/>
                <a:cs typeface="Courier New"/>
                <a:sym typeface="Courier New"/>
              </a:rPr>
              <a:t>}</a:t>
            </a:r>
            <a:endParaRPr b="0" i="0" sz="1800" u="none" cap="none" strike="noStrike">
              <a:solidFill>
                <a:schemeClr val="dk1"/>
              </a:solidFill>
              <a:latin typeface="Calibri"/>
              <a:ea typeface="Calibri"/>
              <a:cs typeface="Calibri"/>
              <a:sym typeface="Calibri"/>
            </a:endParaRPr>
          </a:p>
        </p:txBody>
      </p:sp>
      <p:sp>
        <p:nvSpPr>
          <p:cNvPr id="241" name="Google Shape;241;p15"/>
          <p:cNvSpPr txBox="1"/>
          <p:nvPr/>
        </p:nvSpPr>
        <p:spPr>
          <a:xfrm>
            <a:off x="548640" y="5486400"/>
            <a:ext cx="1106424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B6B7A"/>
              </a:buClr>
              <a:buSzPts val="2200"/>
              <a:buFont typeface="Calibri"/>
              <a:buNone/>
            </a:pPr>
            <a:r>
              <a:rPr b="0" i="0" lang="en-US" sz="2200" u="none" cap="none" strike="noStrike">
                <a:solidFill>
                  <a:srgbClr val="5B6B7A"/>
                </a:solidFill>
                <a:latin typeface="Calibri"/>
                <a:ea typeface="Calibri"/>
                <a:cs typeface="Calibri"/>
                <a:sym typeface="Calibri"/>
              </a:rPr>
              <a:t>La regla vive en un solo lugar, o donde cada uno la haya escrito.</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6" name="Shape 246"/>
        <p:cNvGrpSpPr/>
        <p:nvPr/>
      </p:nvGrpSpPr>
      <p:grpSpPr>
        <a:xfrm>
          <a:off x="0" y="0"/>
          <a:ext cx="0" cy="0"/>
          <a:chOff x="0" y="0"/>
          <a:chExt cx="0" cy="0"/>
        </a:xfrm>
      </p:grpSpPr>
      <p:sp>
        <p:nvSpPr>
          <p:cNvPr id="247" name="Google Shape;247;p16"/>
          <p:cNvSpPr txBox="1"/>
          <p:nvPr/>
        </p:nvSpPr>
        <p:spPr>
          <a:xfrm>
            <a:off x="548640" y="411480"/>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3400"/>
              <a:buFont typeface="Arial"/>
              <a:buNone/>
            </a:pPr>
            <a:r>
              <a:rPr b="1" i="0" lang="en-US" sz="3400" u="none" cap="none" strike="noStrike">
                <a:solidFill>
                  <a:srgbClr val="1C2733"/>
                </a:solidFill>
                <a:latin typeface="Arial"/>
                <a:ea typeface="Arial"/>
                <a:cs typeface="Arial"/>
                <a:sym typeface="Arial"/>
              </a:rPr>
              <a:t>¿Por qué no había getters?</a:t>
            </a:r>
            <a:endParaRPr b="0" i="0" sz="3400" u="none" cap="none" strike="noStrike">
              <a:solidFill>
                <a:schemeClr val="dk1"/>
              </a:solidFill>
              <a:latin typeface="Calibri"/>
              <a:ea typeface="Calibri"/>
              <a:cs typeface="Calibri"/>
              <a:sym typeface="Calibri"/>
            </a:endParaRPr>
          </a:p>
        </p:txBody>
      </p:sp>
      <p:sp>
        <p:nvSpPr>
          <p:cNvPr id="248" name="Google Shape;248;p16"/>
          <p:cNvSpPr/>
          <p:nvPr/>
        </p:nvSpPr>
        <p:spPr>
          <a:xfrm>
            <a:off x="548640" y="1463040"/>
            <a:ext cx="6766560" cy="4572000"/>
          </a:xfrm>
          <a:prstGeom prst="roundRect">
            <a:avLst>
              <a:gd fmla="val 2400" name="adj"/>
            </a:avLst>
          </a:prstGeom>
          <a:solidFill>
            <a:srgbClr val="1F2A36"/>
          </a:solidFill>
          <a:ln cap="flat" cmpd="sng" w="12700">
            <a:solidFill>
              <a:srgbClr val="1F2A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6"/>
          <p:cNvSpPr txBox="1"/>
          <p:nvPr/>
        </p:nvSpPr>
        <p:spPr>
          <a:xfrm>
            <a:off x="822960" y="1691640"/>
            <a:ext cx="6217920" cy="4114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8C9AA8"/>
              </a:buClr>
              <a:buSzPts val="1800"/>
              <a:buFont typeface="Courier New"/>
              <a:buNone/>
            </a:pPr>
            <a:r>
              <a:rPr b="0" i="0" lang="en-US" sz="1800" u="none" cap="none" strike="noStrike">
                <a:solidFill>
                  <a:srgbClr val="8C9AA8"/>
                </a:solidFill>
                <a:latin typeface="Courier New"/>
                <a:ea typeface="Courier New"/>
                <a:cs typeface="Courier New"/>
                <a:sym typeface="Courier New"/>
              </a:rPr>
              <a:t>// dentro de la clase</a:t>
            </a:r>
            <a:endParaRPr b="0" i="0" sz="18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800"/>
              <a:buFont typeface="Courier New"/>
              <a:buNone/>
            </a:pPr>
            <a:r>
              <a:rPr b="0" i="0" lang="en-US" sz="1800" u="none" cap="none" strike="noStrike">
                <a:solidFill>
                  <a:srgbClr val="E8EDF2"/>
                </a:solidFill>
                <a:latin typeface="Courier New"/>
                <a:ea typeface="Courier New"/>
                <a:cs typeface="Courier New"/>
                <a:sym typeface="Courier New"/>
              </a:rPr>
              <a:t>getTransacciones() {</a:t>
            </a:r>
            <a:endParaRPr b="0" i="0" sz="18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800"/>
              <a:buFont typeface="Courier New"/>
              <a:buNone/>
            </a:pPr>
            <a:r>
              <a:rPr b="0" i="0" lang="en-US" sz="1800" u="none" cap="none" strike="noStrike">
                <a:solidFill>
                  <a:srgbClr val="E8EDF2"/>
                </a:solidFill>
                <a:latin typeface="Courier New"/>
                <a:ea typeface="Courier New"/>
                <a:cs typeface="Courier New"/>
                <a:sym typeface="Courier New"/>
              </a:rPr>
              <a:t>  return this.transacciones;</a:t>
            </a:r>
            <a:endParaRPr b="0" i="0" sz="18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800"/>
              <a:buFont typeface="Courier New"/>
              <a:buNone/>
            </a:pPr>
            <a:r>
              <a:rPr b="0" i="0" lang="en-US" sz="1800" u="none" cap="none" strike="noStrike">
                <a:solidFill>
                  <a:srgbClr val="E8EDF2"/>
                </a:solidFill>
                <a:latin typeface="Courier New"/>
                <a:ea typeface="Courier New"/>
                <a:cs typeface="Courier New"/>
                <a:sym typeface="Courier New"/>
              </a:rPr>
              <a:t>}</a:t>
            </a:r>
            <a:endParaRPr b="0" i="0" sz="18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800"/>
              <a:buFont typeface="Courier New"/>
              <a:buNone/>
            </a:pPr>
            <a:r>
              <a:rPr b="0" i="0" lang="en-US" sz="1800" u="none" cap="none" strike="noStrike">
                <a:solidFill>
                  <a:srgbClr val="E8EDF2"/>
                </a:solidFill>
                <a:latin typeface="Courier New"/>
                <a:ea typeface="Courier New"/>
                <a:cs typeface="Courier New"/>
                <a:sym typeface="Courier New"/>
              </a:rPr>
              <a:t> </a:t>
            </a:r>
            <a:endParaRPr b="0" i="0" sz="18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8C9AA8"/>
              </a:buClr>
              <a:buSzPts val="1800"/>
              <a:buFont typeface="Courier New"/>
              <a:buNone/>
            </a:pPr>
            <a:r>
              <a:rPr b="0" i="0" lang="en-US" sz="1800" u="none" cap="none" strike="noStrike">
                <a:solidFill>
                  <a:srgbClr val="8C9AA8"/>
                </a:solidFill>
                <a:latin typeface="Courier New"/>
                <a:ea typeface="Courier New"/>
                <a:cs typeface="Courier New"/>
                <a:sym typeface="Courier New"/>
              </a:rPr>
              <a:t>// en el módulo de reportes</a:t>
            </a:r>
            <a:endParaRPr b="0" i="0" sz="18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800"/>
              <a:buFont typeface="Courier New"/>
              <a:buNone/>
            </a:pPr>
            <a:r>
              <a:rPr b="0" i="0" lang="en-US" sz="1800" u="none" cap="none" strike="noStrike">
                <a:solidFill>
                  <a:srgbClr val="E8EDF2"/>
                </a:solidFill>
                <a:latin typeface="Courier New"/>
                <a:ea typeface="Courier New"/>
                <a:cs typeface="Courier New"/>
                <a:sym typeface="Courier New"/>
              </a:rPr>
              <a:t>const lista = lote.getTransacciones();</a:t>
            </a:r>
            <a:endParaRPr b="0" i="0" sz="18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2B656"/>
              </a:buClr>
              <a:buSzPts val="1800"/>
              <a:buFont typeface="Courier New"/>
              <a:buNone/>
            </a:pPr>
            <a:r>
              <a:rPr b="0" i="0" lang="en-US" sz="1800" u="none" cap="none" strike="noStrike">
                <a:solidFill>
                  <a:srgbClr val="F2B656"/>
                </a:solidFill>
                <a:latin typeface="Courier New"/>
                <a:ea typeface="Courier New"/>
                <a:cs typeface="Courier New"/>
                <a:sym typeface="Courier New"/>
              </a:rPr>
              <a:t>lista.sort((a, b) =&gt; b.monto - a.monto);</a:t>
            </a:r>
            <a:endParaRPr b="0" i="0" sz="18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800"/>
              <a:buFont typeface="Courier New"/>
              <a:buNone/>
            </a:pPr>
            <a:r>
              <a:rPr b="0" i="0" lang="en-US" sz="1800" u="none" cap="none" strike="noStrike">
                <a:solidFill>
                  <a:srgbClr val="E8EDF2"/>
                </a:solidFill>
                <a:latin typeface="Courier New"/>
                <a:ea typeface="Courier New"/>
                <a:cs typeface="Courier New"/>
                <a:sym typeface="Courier New"/>
              </a:rPr>
              <a:t> </a:t>
            </a:r>
            <a:endParaRPr b="0" i="0" sz="18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2B656"/>
              </a:buClr>
              <a:buSzPts val="1800"/>
              <a:buFont typeface="Courier New"/>
              <a:buNone/>
            </a:pPr>
            <a:r>
              <a:rPr b="0" i="0" lang="en-US" sz="1800" u="none" cap="none" strike="noStrike">
                <a:solidFill>
                  <a:srgbClr val="F2B656"/>
                </a:solidFill>
                <a:latin typeface="Courier New"/>
                <a:ea typeface="Courier New"/>
                <a:cs typeface="Courier New"/>
                <a:sym typeface="Courier New"/>
              </a:rPr>
              <a:t>// el estado interno de la clase</a:t>
            </a:r>
            <a:endParaRPr b="0" i="0" sz="18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2B656"/>
              </a:buClr>
              <a:buSzPts val="1800"/>
              <a:buFont typeface="Courier New"/>
              <a:buNone/>
            </a:pPr>
            <a:r>
              <a:rPr b="0" i="0" lang="en-US" sz="1800" u="none" cap="none" strike="noStrike">
                <a:solidFill>
                  <a:srgbClr val="F2B656"/>
                </a:solidFill>
                <a:latin typeface="Courier New"/>
                <a:ea typeface="Courier New"/>
                <a:cs typeface="Courier New"/>
                <a:sym typeface="Courier New"/>
              </a:rPr>
              <a:t>// acaba de cambiar</a:t>
            </a:r>
            <a:endParaRPr b="0" i="0" sz="1800" u="none" cap="none" strike="noStrike">
              <a:solidFill>
                <a:schemeClr val="dk1"/>
              </a:solidFill>
              <a:latin typeface="Calibri"/>
              <a:ea typeface="Calibri"/>
              <a:cs typeface="Calibri"/>
              <a:sym typeface="Calibri"/>
            </a:endParaRPr>
          </a:p>
        </p:txBody>
      </p:sp>
      <p:sp>
        <p:nvSpPr>
          <p:cNvPr id="250" name="Google Shape;250;p16"/>
          <p:cNvSpPr/>
          <p:nvPr/>
        </p:nvSpPr>
        <p:spPr>
          <a:xfrm>
            <a:off x="7680960" y="1463040"/>
            <a:ext cx="3931920" cy="4572000"/>
          </a:xfrm>
          <a:prstGeom prst="roundRect">
            <a:avLst>
              <a:gd fmla="val 2791"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6"/>
          <p:cNvSpPr txBox="1"/>
          <p:nvPr/>
        </p:nvSpPr>
        <p:spPr>
          <a:xfrm>
            <a:off x="8001000" y="1783080"/>
            <a:ext cx="329184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733"/>
              </a:buClr>
              <a:buSzPts val="2400"/>
              <a:buFont typeface="Arial"/>
              <a:buNone/>
            </a:pPr>
            <a:r>
              <a:rPr b="1" i="0" lang="en-US" sz="2400" u="none" cap="none" strike="noStrike">
                <a:solidFill>
                  <a:srgbClr val="1C2733"/>
                </a:solidFill>
                <a:latin typeface="Arial"/>
                <a:ea typeface="Arial"/>
                <a:cs typeface="Arial"/>
                <a:sym typeface="Arial"/>
              </a:rPr>
              <a:t>Los arreglos se pasan por referencia.</a:t>
            </a:r>
            <a:endParaRPr b="0" i="0" sz="2400" u="none" cap="none" strike="noStrike">
              <a:solidFill>
                <a:schemeClr val="dk1"/>
              </a:solidFill>
              <a:latin typeface="Calibri"/>
              <a:ea typeface="Calibri"/>
              <a:cs typeface="Calibri"/>
              <a:sym typeface="Calibri"/>
            </a:endParaRPr>
          </a:p>
        </p:txBody>
      </p:sp>
      <p:sp>
        <p:nvSpPr>
          <p:cNvPr id="252" name="Google Shape;252;p16"/>
          <p:cNvSpPr txBox="1"/>
          <p:nvPr/>
        </p:nvSpPr>
        <p:spPr>
          <a:xfrm>
            <a:off x="8001000" y="3017520"/>
            <a:ext cx="329184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7A"/>
              </a:buClr>
              <a:buSzPts val="2000"/>
              <a:buFont typeface="Calibri"/>
              <a:buNone/>
            </a:pPr>
            <a:r>
              <a:rPr b="0" i="0" lang="en-US" sz="2000" u="none" cap="none" strike="noStrike">
                <a:solidFill>
                  <a:srgbClr val="5B6B7A"/>
                </a:solidFill>
                <a:latin typeface="Calibri"/>
                <a:ea typeface="Calibri"/>
                <a:cs typeface="Calibri"/>
                <a:sym typeface="Calibri"/>
              </a:rPr>
              <a:t>Quien recibe el arreglo recibe las llaves del estado.</a:t>
            </a:r>
            <a:endParaRPr b="0" i="0" sz="2000" u="none" cap="none" strike="noStrike">
              <a:solidFill>
                <a:schemeClr val="dk1"/>
              </a:solidFill>
              <a:latin typeface="Calibri"/>
              <a:ea typeface="Calibri"/>
              <a:cs typeface="Calibri"/>
              <a:sym typeface="Calibri"/>
            </a:endParaRPr>
          </a:p>
        </p:txBody>
      </p:sp>
      <p:sp>
        <p:nvSpPr>
          <p:cNvPr id="253" name="Google Shape;253;p16"/>
          <p:cNvSpPr txBox="1"/>
          <p:nvPr/>
        </p:nvSpPr>
        <p:spPr>
          <a:xfrm>
            <a:off x="8001000" y="4480560"/>
            <a:ext cx="329184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9B2D"/>
              </a:buClr>
              <a:buSzPts val="2200"/>
              <a:buFont typeface="Arial"/>
              <a:buNone/>
            </a:pPr>
            <a:r>
              <a:rPr b="1" i="0" lang="en-US" sz="2200" u="none" cap="none" strike="noStrike">
                <a:solidFill>
                  <a:srgbClr val="E39B2D"/>
                </a:solidFill>
                <a:latin typeface="Arial"/>
                <a:ea typeface="Arial"/>
                <a:cs typeface="Arial"/>
                <a:sym typeface="Arial"/>
              </a:rPr>
              <a:t>El error aparece en otra punta del sistema.</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8" name="Shape 258"/>
        <p:cNvGrpSpPr/>
        <p:nvPr/>
      </p:nvGrpSpPr>
      <p:grpSpPr>
        <a:xfrm>
          <a:off x="0" y="0"/>
          <a:ext cx="0" cy="0"/>
          <a:chOff x="0" y="0"/>
          <a:chExt cx="0" cy="0"/>
        </a:xfrm>
      </p:grpSpPr>
      <p:sp>
        <p:nvSpPr>
          <p:cNvPr id="259" name="Google Shape;259;p17"/>
          <p:cNvSpPr txBox="1"/>
          <p:nvPr/>
        </p:nvSpPr>
        <p:spPr>
          <a:xfrm>
            <a:off x="548640" y="411480"/>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3400"/>
              <a:buFont typeface="Arial"/>
              <a:buNone/>
            </a:pPr>
            <a:r>
              <a:rPr b="1" i="0" lang="en-US" sz="3400" u="none" cap="none" strike="noStrike">
                <a:solidFill>
                  <a:srgbClr val="1C2733"/>
                </a:solidFill>
                <a:latin typeface="Arial"/>
                <a:ea typeface="Arial"/>
                <a:cs typeface="Arial"/>
                <a:sym typeface="Arial"/>
              </a:rPr>
              <a:t>La escala cambia</a:t>
            </a:r>
            <a:endParaRPr b="0" i="0" sz="3400" u="none" cap="none" strike="noStrike">
              <a:solidFill>
                <a:schemeClr val="dk1"/>
              </a:solidFill>
              <a:latin typeface="Calibri"/>
              <a:ea typeface="Calibri"/>
              <a:cs typeface="Calibri"/>
              <a:sym typeface="Calibri"/>
            </a:endParaRPr>
          </a:p>
        </p:txBody>
      </p:sp>
      <p:sp>
        <p:nvSpPr>
          <p:cNvPr id="260" name="Google Shape;260;p17"/>
          <p:cNvSpPr/>
          <p:nvPr/>
        </p:nvSpPr>
        <p:spPr>
          <a:xfrm>
            <a:off x="548640" y="1645920"/>
            <a:ext cx="3566160" cy="3566160"/>
          </a:xfrm>
          <a:prstGeom prst="roundRect">
            <a:avLst>
              <a:gd fmla="val 3077"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7"/>
          <p:cNvSpPr txBox="1"/>
          <p:nvPr/>
        </p:nvSpPr>
        <p:spPr>
          <a:xfrm>
            <a:off x="914400" y="1920240"/>
            <a:ext cx="28346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9B2D"/>
              </a:buClr>
              <a:buSzPts val="2200"/>
              <a:buFont typeface="Arial"/>
              <a:buNone/>
            </a:pPr>
            <a:r>
              <a:rPr b="1" i="0" lang="en-US" sz="2200" u="none" cap="none" strike="noStrike">
                <a:solidFill>
                  <a:srgbClr val="E39B2D"/>
                </a:solidFill>
                <a:latin typeface="Arial"/>
                <a:ea typeface="Arial"/>
                <a:cs typeface="Arial"/>
                <a:sym typeface="Arial"/>
              </a:rPr>
              <a:t>Hoy</a:t>
            </a:r>
            <a:endParaRPr b="0" i="0" sz="2200" u="none" cap="none" strike="noStrike">
              <a:solidFill>
                <a:schemeClr val="dk1"/>
              </a:solidFill>
              <a:latin typeface="Calibri"/>
              <a:ea typeface="Calibri"/>
              <a:cs typeface="Calibri"/>
              <a:sym typeface="Calibri"/>
            </a:endParaRPr>
          </a:p>
        </p:txBody>
      </p:sp>
      <p:sp>
        <p:nvSpPr>
          <p:cNvPr id="262" name="Google Shape;262;p17"/>
          <p:cNvSpPr txBox="1"/>
          <p:nvPr/>
        </p:nvSpPr>
        <p:spPr>
          <a:xfrm>
            <a:off x="914400" y="2377440"/>
            <a:ext cx="2834640"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733"/>
              </a:buClr>
              <a:buSzPts val="9600"/>
              <a:buFont typeface="Arial"/>
              <a:buNone/>
            </a:pPr>
            <a:r>
              <a:rPr b="1" i="0" lang="en-US" sz="9600" u="none" cap="none" strike="noStrike">
                <a:solidFill>
                  <a:srgbClr val="1C2733"/>
                </a:solidFill>
                <a:latin typeface="Arial"/>
                <a:ea typeface="Arial"/>
                <a:cs typeface="Arial"/>
                <a:sym typeface="Arial"/>
              </a:rPr>
              <a:t>7</a:t>
            </a:r>
            <a:endParaRPr b="0" i="0" sz="9600" u="none" cap="none" strike="noStrike">
              <a:solidFill>
                <a:schemeClr val="dk1"/>
              </a:solidFill>
              <a:latin typeface="Calibri"/>
              <a:ea typeface="Calibri"/>
              <a:cs typeface="Calibri"/>
              <a:sym typeface="Calibri"/>
            </a:endParaRPr>
          </a:p>
        </p:txBody>
      </p:sp>
      <p:sp>
        <p:nvSpPr>
          <p:cNvPr id="263" name="Google Shape;263;p17"/>
          <p:cNvSpPr txBox="1"/>
          <p:nvPr/>
        </p:nvSpPr>
        <p:spPr>
          <a:xfrm>
            <a:off x="914400" y="3931920"/>
            <a:ext cx="28346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7A"/>
              </a:buClr>
              <a:buSzPts val="2200"/>
              <a:buFont typeface="Calibri"/>
              <a:buNone/>
            </a:pPr>
            <a:r>
              <a:rPr b="0" i="0" lang="en-US" sz="2200" u="none" cap="none" strike="noStrike">
                <a:solidFill>
                  <a:srgbClr val="5B6B7A"/>
                </a:solidFill>
                <a:latin typeface="Calibri"/>
                <a:ea typeface="Calibri"/>
                <a:cs typeface="Calibri"/>
                <a:sym typeface="Calibri"/>
              </a:rPr>
              <a:t>transacciones en un arreglo</a:t>
            </a:r>
            <a:endParaRPr b="0" i="0" sz="2200" u="none" cap="none" strike="noStrike">
              <a:solidFill>
                <a:schemeClr val="dk1"/>
              </a:solidFill>
              <a:latin typeface="Calibri"/>
              <a:ea typeface="Calibri"/>
              <a:cs typeface="Calibri"/>
              <a:sym typeface="Calibri"/>
            </a:endParaRPr>
          </a:p>
        </p:txBody>
      </p:sp>
      <p:cxnSp>
        <p:nvCxnSpPr>
          <p:cNvPr id="264" name="Google Shape;264;p17"/>
          <p:cNvCxnSpPr/>
          <p:nvPr/>
        </p:nvCxnSpPr>
        <p:spPr>
          <a:xfrm>
            <a:off x="4343400" y="3429000"/>
            <a:ext cx="640080" cy="0"/>
          </a:xfrm>
          <a:prstGeom prst="straightConnector1">
            <a:avLst/>
          </a:prstGeom>
          <a:noFill/>
          <a:ln cap="flat" cmpd="sng" w="31750">
            <a:solidFill>
              <a:srgbClr val="E39B2D"/>
            </a:solidFill>
            <a:prstDash val="solid"/>
            <a:round/>
            <a:headEnd len="sm" w="sm" type="none"/>
            <a:tailEnd len="med" w="med" type="triangle"/>
          </a:ln>
        </p:spPr>
      </p:cxnSp>
      <p:sp>
        <p:nvSpPr>
          <p:cNvPr id="265" name="Google Shape;265;p17"/>
          <p:cNvSpPr/>
          <p:nvPr/>
        </p:nvSpPr>
        <p:spPr>
          <a:xfrm>
            <a:off x="5212080" y="1645920"/>
            <a:ext cx="6400800" cy="1691640"/>
          </a:xfrm>
          <a:prstGeom prst="roundRect">
            <a:avLst>
              <a:gd fmla="val 6486"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7"/>
          <p:cNvSpPr txBox="1"/>
          <p:nvPr/>
        </p:nvSpPr>
        <p:spPr>
          <a:xfrm>
            <a:off x="5577840" y="1874520"/>
            <a:ext cx="566928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9B2D"/>
              </a:buClr>
              <a:buSzPts val="2000"/>
              <a:buFont typeface="Arial"/>
              <a:buNone/>
            </a:pPr>
            <a:r>
              <a:rPr b="1" i="0" lang="en-US" sz="2000" u="none" cap="none" strike="noStrike">
                <a:solidFill>
                  <a:srgbClr val="E39B2D"/>
                </a:solidFill>
                <a:latin typeface="Arial"/>
                <a:ea typeface="Arial"/>
                <a:cs typeface="Arial"/>
                <a:sym typeface="Arial"/>
              </a:rPr>
              <a:t>Mañana</a:t>
            </a:r>
            <a:endParaRPr b="0" i="0" sz="2000" u="none" cap="none" strike="noStrike">
              <a:solidFill>
                <a:schemeClr val="dk1"/>
              </a:solidFill>
              <a:latin typeface="Calibri"/>
              <a:ea typeface="Calibri"/>
              <a:cs typeface="Calibri"/>
              <a:sym typeface="Calibri"/>
            </a:endParaRPr>
          </a:p>
        </p:txBody>
      </p:sp>
      <p:sp>
        <p:nvSpPr>
          <p:cNvPr id="267" name="Google Shape;267;p17"/>
          <p:cNvSpPr txBox="1"/>
          <p:nvPr/>
        </p:nvSpPr>
        <p:spPr>
          <a:xfrm>
            <a:off x="5577840" y="2331720"/>
            <a:ext cx="566928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733"/>
              </a:buClr>
              <a:buSzPts val="2400"/>
              <a:buFont typeface="Calibri"/>
              <a:buNone/>
            </a:pPr>
            <a:r>
              <a:rPr b="0" i="0" lang="en-US" sz="2400" u="none" cap="none" strike="noStrike">
                <a:solidFill>
                  <a:srgbClr val="1C2733"/>
                </a:solidFill>
                <a:latin typeface="Calibri"/>
                <a:ea typeface="Calibri"/>
                <a:cs typeface="Calibri"/>
                <a:sym typeface="Calibri"/>
              </a:rPr>
              <a:t>Un dataset de entrenamiento de un modelo de IA</a:t>
            </a:r>
            <a:endParaRPr b="0" i="0" sz="2400" u="none" cap="none" strike="noStrike">
              <a:solidFill>
                <a:schemeClr val="dk1"/>
              </a:solidFill>
              <a:latin typeface="Calibri"/>
              <a:ea typeface="Calibri"/>
              <a:cs typeface="Calibri"/>
              <a:sym typeface="Calibri"/>
            </a:endParaRPr>
          </a:p>
        </p:txBody>
      </p:sp>
      <p:sp>
        <p:nvSpPr>
          <p:cNvPr id="268" name="Google Shape;268;p17"/>
          <p:cNvSpPr/>
          <p:nvPr/>
        </p:nvSpPr>
        <p:spPr>
          <a:xfrm>
            <a:off x="5212080" y="3520440"/>
            <a:ext cx="6400800" cy="1691640"/>
          </a:xfrm>
          <a:prstGeom prst="roundRect">
            <a:avLst>
              <a:gd fmla="val 6486"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7"/>
          <p:cNvSpPr txBox="1"/>
          <p:nvPr/>
        </p:nvSpPr>
        <p:spPr>
          <a:xfrm>
            <a:off x="5577840" y="3749040"/>
            <a:ext cx="566928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9B2D"/>
              </a:buClr>
              <a:buSzPts val="2000"/>
              <a:buFont typeface="Arial"/>
              <a:buNone/>
            </a:pPr>
            <a:r>
              <a:rPr b="1" i="0" lang="en-US" sz="2000" u="none" cap="none" strike="noStrike">
                <a:solidFill>
                  <a:srgbClr val="E39B2D"/>
                </a:solidFill>
                <a:latin typeface="Arial"/>
                <a:ea typeface="Arial"/>
                <a:cs typeface="Arial"/>
                <a:sym typeface="Arial"/>
              </a:rPr>
              <a:t>Mañana</a:t>
            </a:r>
            <a:endParaRPr b="0" i="0" sz="2000" u="none" cap="none" strike="noStrike">
              <a:solidFill>
                <a:schemeClr val="dk1"/>
              </a:solidFill>
              <a:latin typeface="Calibri"/>
              <a:ea typeface="Calibri"/>
              <a:cs typeface="Calibri"/>
              <a:sym typeface="Calibri"/>
            </a:endParaRPr>
          </a:p>
        </p:txBody>
      </p:sp>
      <p:sp>
        <p:nvSpPr>
          <p:cNvPr id="270" name="Google Shape;270;p17"/>
          <p:cNvSpPr txBox="1"/>
          <p:nvPr/>
        </p:nvSpPr>
        <p:spPr>
          <a:xfrm>
            <a:off x="5577840" y="4206240"/>
            <a:ext cx="566928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733"/>
              </a:buClr>
              <a:buSzPts val="2400"/>
              <a:buFont typeface="Calibri"/>
              <a:buNone/>
            </a:pPr>
            <a:r>
              <a:rPr b="0" i="0" lang="en-US" sz="2400" u="none" cap="none" strike="noStrike">
                <a:solidFill>
                  <a:srgbClr val="1C2733"/>
                </a:solidFill>
                <a:latin typeface="Calibri"/>
                <a:ea typeface="Calibri"/>
                <a:cs typeface="Calibri"/>
                <a:sym typeface="Calibri"/>
              </a:rPr>
              <a:t>Una matriz de adyacencia para enrutamiento de redes</a:t>
            </a:r>
            <a:endParaRPr b="0" i="0" sz="2400" u="none" cap="none" strike="noStrike">
              <a:solidFill>
                <a:schemeClr val="dk1"/>
              </a:solidFill>
              <a:latin typeface="Calibri"/>
              <a:ea typeface="Calibri"/>
              <a:cs typeface="Calibri"/>
              <a:sym typeface="Calibri"/>
            </a:endParaRPr>
          </a:p>
        </p:txBody>
      </p:sp>
      <p:sp>
        <p:nvSpPr>
          <p:cNvPr id="271" name="Google Shape;271;p17"/>
          <p:cNvSpPr txBox="1"/>
          <p:nvPr/>
        </p:nvSpPr>
        <p:spPr>
          <a:xfrm>
            <a:off x="548640" y="5623560"/>
            <a:ext cx="1106424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C2733"/>
              </a:buClr>
              <a:buSzPts val="2600"/>
              <a:buFont typeface="Arial"/>
              <a:buNone/>
            </a:pPr>
            <a:r>
              <a:rPr b="1" i="0" lang="en-US" sz="2600" u="none" cap="none" strike="noStrike">
                <a:solidFill>
                  <a:srgbClr val="1C2733"/>
                </a:solidFill>
                <a:latin typeface="Arial"/>
                <a:ea typeface="Arial"/>
                <a:cs typeface="Arial"/>
                <a:sym typeface="Arial"/>
              </a:rPr>
              <a:t>El principio es el mismo.</a:t>
            </a:r>
            <a:endParaRPr b="0" i="0" sz="26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733"/>
        </a:solidFill>
      </p:bgPr>
    </p:bg>
    <p:spTree>
      <p:nvGrpSpPr>
        <p:cNvPr id="276" name="Shape 276"/>
        <p:cNvGrpSpPr/>
        <p:nvPr/>
      </p:nvGrpSpPr>
      <p:grpSpPr>
        <a:xfrm>
          <a:off x="0" y="0"/>
          <a:ext cx="0" cy="0"/>
          <a:chOff x="0" y="0"/>
          <a:chExt cx="0" cy="0"/>
        </a:xfrm>
      </p:grpSpPr>
      <p:sp>
        <p:nvSpPr>
          <p:cNvPr id="277" name="Google Shape;277;p18"/>
          <p:cNvSpPr txBox="1"/>
          <p:nvPr/>
        </p:nvSpPr>
        <p:spPr>
          <a:xfrm>
            <a:off x="7589520" y="822960"/>
            <a:ext cx="4480560" cy="5120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73444"/>
              </a:buClr>
              <a:buSzPts val="20000"/>
              <a:buFont typeface="Courier New"/>
              <a:buNone/>
            </a:pPr>
            <a:r>
              <a:rPr b="1" i="0" lang="en-US" sz="20000" u="none" cap="none" strike="noStrike">
                <a:solidFill>
                  <a:srgbClr val="273444"/>
                </a:solidFill>
                <a:latin typeface="Courier New"/>
                <a:ea typeface="Courier New"/>
                <a:cs typeface="Courier New"/>
                <a:sym typeface="Courier New"/>
              </a:rPr>
              <a:t>{}</a:t>
            </a:r>
            <a:endParaRPr b="0" i="0" sz="20000" u="none" cap="none" strike="noStrike">
              <a:solidFill>
                <a:schemeClr val="dk1"/>
              </a:solidFill>
              <a:latin typeface="Calibri"/>
              <a:ea typeface="Calibri"/>
              <a:cs typeface="Calibri"/>
              <a:sym typeface="Calibri"/>
            </a:endParaRPr>
          </a:p>
        </p:txBody>
      </p:sp>
      <p:sp>
        <p:nvSpPr>
          <p:cNvPr id="278" name="Google Shape;278;p18"/>
          <p:cNvSpPr txBox="1"/>
          <p:nvPr/>
        </p:nvSpPr>
        <p:spPr>
          <a:xfrm>
            <a:off x="822960" y="1737360"/>
            <a:ext cx="768096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3CEDA"/>
              </a:buClr>
              <a:buSzPts val="3600"/>
              <a:buFont typeface="Arial"/>
              <a:buNone/>
            </a:pPr>
            <a:r>
              <a:rPr b="0" i="0" lang="en-US" sz="3600" u="none" cap="none" strike="noStrike">
                <a:solidFill>
                  <a:srgbClr val="C3CEDA"/>
                </a:solidFill>
                <a:latin typeface="Arial"/>
                <a:ea typeface="Arial"/>
                <a:cs typeface="Arial"/>
                <a:sym typeface="Arial"/>
              </a:rPr>
              <a:t>El filter lo escribe cualquiera.</a:t>
            </a:r>
            <a:endParaRPr b="0" i="0" sz="3600" u="none" cap="none" strike="noStrike">
              <a:solidFill>
                <a:schemeClr val="dk1"/>
              </a:solidFill>
              <a:latin typeface="Calibri"/>
              <a:ea typeface="Calibri"/>
              <a:cs typeface="Calibri"/>
              <a:sym typeface="Calibri"/>
            </a:endParaRPr>
          </a:p>
        </p:txBody>
      </p:sp>
      <p:sp>
        <p:nvSpPr>
          <p:cNvPr id="279" name="Google Shape;279;p18"/>
          <p:cNvSpPr txBox="1"/>
          <p:nvPr/>
        </p:nvSpPr>
        <p:spPr>
          <a:xfrm>
            <a:off x="822960" y="2743200"/>
            <a:ext cx="7680960" cy="2011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4600"/>
              <a:buFont typeface="Arial"/>
              <a:buNone/>
            </a:pPr>
            <a:r>
              <a:rPr b="1" i="0" lang="en-US" sz="4600" u="none" cap="none" strike="noStrike">
                <a:solidFill>
                  <a:srgbClr val="FFFFFF"/>
                </a:solidFill>
                <a:latin typeface="Arial"/>
                <a:ea typeface="Arial"/>
                <a:cs typeface="Arial"/>
                <a:sym typeface="Arial"/>
              </a:rPr>
              <a:t>Dónde va el </a:t>
            </a:r>
            <a:r>
              <a:rPr b="1" i="0" lang="en-US" sz="4600" u="none" cap="none" strike="noStrike">
                <a:solidFill>
                  <a:srgbClr val="E39B2D"/>
                </a:solidFill>
                <a:latin typeface="Arial"/>
                <a:ea typeface="Arial"/>
                <a:cs typeface="Arial"/>
                <a:sym typeface="Arial"/>
              </a:rPr>
              <a:t>límite</a:t>
            </a:r>
            <a:r>
              <a:rPr b="1" i="0" lang="en-US" sz="4600" u="none" cap="none" strike="noStrike">
                <a:solidFill>
                  <a:srgbClr val="FFFFFF"/>
                </a:solidFill>
                <a:latin typeface="Arial"/>
                <a:ea typeface="Arial"/>
                <a:cs typeface="Arial"/>
                <a:sym typeface="Arial"/>
              </a:rPr>
              <a:t>, lo decide el ingeniero.</a:t>
            </a:r>
            <a:endParaRPr b="0" i="0" sz="46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2733"/>
        </a:solidFill>
      </p:bgPr>
    </p:bg>
    <p:spTree>
      <p:nvGrpSpPr>
        <p:cNvPr id="284" name="Shape 284"/>
        <p:cNvGrpSpPr/>
        <p:nvPr/>
      </p:nvGrpSpPr>
      <p:grpSpPr>
        <a:xfrm>
          <a:off x="0" y="0"/>
          <a:ext cx="0" cy="0"/>
          <a:chOff x="0" y="0"/>
          <a:chExt cx="0" cy="0"/>
        </a:xfrm>
      </p:grpSpPr>
      <p:sp>
        <p:nvSpPr>
          <p:cNvPr id="285" name="Google Shape;285;p19"/>
          <p:cNvSpPr txBox="1"/>
          <p:nvPr/>
        </p:nvSpPr>
        <p:spPr>
          <a:xfrm>
            <a:off x="7589520" y="822960"/>
            <a:ext cx="4480560" cy="5120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73444"/>
              </a:buClr>
              <a:buSzPts val="20000"/>
              <a:buFont typeface="Courier New"/>
              <a:buNone/>
            </a:pPr>
            <a:r>
              <a:rPr b="1" i="0" lang="en-US" sz="20000" u="none" cap="none" strike="noStrike">
                <a:solidFill>
                  <a:srgbClr val="273444"/>
                </a:solidFill>
                <a:latin typeface="Courier New"/>
                <a:ea typeface="Courier New"/>
                <a:cs typeface="Courier New"/>
                <a:sym typeface="Courier New"/>
              </a:rPr>
              <a:t>{}</a:t>
            </a:r>
            <a:endParaRPr b="0" i="0" sz="20000" u="none" cap="none" strike="noStrike">
              <a:solidFill>
                <a:schemeClr val="dk1"/>
              </a:solidFill>
              <a:latin typeface="Calibri"/>
              <a:ea typeface="Calibri"/>
              <a:cs typeface="Calibri"/>
              <a:sym typeface="Calibri"/>
            </a:endParaRPr>
          </a:p>
        </p:txBody>
      </p:sp>
      <p:sp>
        <p:nvSpPr>
          <p:cNvPr id="286" name="Google Shape;286;p19"/>
          <p:cNvSpPr txBox="1"/>
          <p:nvPr/>
        </p:nvSpPr>
        <p:spPr>
          <a:xfrm>
            <a:off x="822960" y="2103120"/>
            <a:ext cx="731520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6600"/>
              <a:buFont typeface="Arial"/>
              <a:buNone/>
            </a:pPr>
            <a:r>
              <a:rPr b="1" i="0" lang="en-US" sz="6600" u="none" cap="none" strike="noStrike">
                <a:solidFill>
                  <a:srgbClr val="FFFFFF"/>
                </a:solidFill>
                <a:latin typeface="Arial"/>
                <a:ea typeface="Arial"/>
                <a:cs typeface="Arial"/>
                <a:sym typeface="Arial"/>
              </a:rPr>
              <a:t>Gracias</a:t>
            </a:r>
            <a:endParaRPr b="0" i="0" sz="6600" u="none" cap="none" strike="noStrike">
              <a:solidFill>
                <a:schemeClr val="dk1"/>
              </a:solidFill>
              <a:latin typeface="Calibri"/>
              <a:ea typeface="Calibri"/>
              <a:cs typeface="Calibri"/>
              <a:sym typeface="Calibri"/>
            </a:endParaRPr>
          </a:p>
        </p:txBody>
      </p:sp>
      <p:sp>
        <p:nvSpPr>
          <p:cNvPr id="287" name="Google Shape;287;p19"/>
          <p:cNvSpPr txBox="1"/>
          <p:nvPr/>
        </p:nvSpPr>
        <p:spPr>
          <a:xfrm>
            <a:off x="822960" y="3291840"/>
            <a:ext cx="73152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3CEDA"/>
              </a:buClr>
              <a:buSzPts val="3000"/>
              <a:buFont typeface="Calibri"/>
              <a:buNone/>
            </a:pPr>
            <a:r>
              <a:rPr b="0" i="0" lang="en-US" sz="3000" u="none" cap="none" strike="noStrike">
                <a:solidFill>
                  <a:srgbClr val="C3CEDA"/>
                </a:solidFill>
                <a:latin typeface="Calibri"/>
                <a:ea typeface="Calibri"/>
                <a:cs typeface="Calibri"/>
                <a:sym typeface="Calibri"/>
              </a:rPr>
              <a:t>¿Preguntas?</a:t>
            </a:r>
            <a:endParaRPr b="0" i="0" sz="3000" u="none" cap="none" strike="noStrike">
              <a:solidFill>
                <a:schemeClr val="dk1"/>
              </a:solidFill>
              <a:latin typeface="Calibri"/>
              <a:ea typeface="Calibri"/>
              <a:cs typeface="Calibri"/>
              <a:sym typeface="Calibri"/>
            </a:endParaRPr>
          </a:p>
        </p:txBody>
      </p:sp>
      <p:sp>
        <p:nvSpPr>
          <p:cNvPr id="288" name="Google Shape;288;p19"/>
          <p:cNvSpPr txBox="1"/>
          <p:nvPr/>
        </p:nvSpPr>
        <p:spPr>
          <a:xfrm>
            <a:off x="822960" y="5303520"/>
            <a:ext cx="73152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3CEDA"/>
              </a:buClr>
              <a:buSzPts val="1800"/>
              <a:buFont typeface="Calibri"/>
              <a:buNone/>
            </a:pPr>
            <a:r>
              <a:rPr b="0" i="0" lang="en-US" sz="1800" u="none" cap="none" strike="noStrike">
                <a:solidFill>
                  <a:srgbClr val="C3CEDA"/>
                </a:solidFill>
                <a:latin typeface="Calibri"/>
                <a:ea typeface="Calibri"/>
                <a:cs typeface="Calibri"/>
                <a:sym typeface="Calibri"/>
              </a:rPr>
              <a:t>Gabriel S. Martinez 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3" name="Shape 293"/>
        <p:cNvGrpSpPr/>
        <p:nvPr/>
      </p:nvGrpSpPr>
      <p:grpSpPr>
        <a:xfrm>
          <a:off x="0" y="0"/>
          <a:ext cx="0" cy="0"/>
          <a:chOff x="0" y="0"/>
          <a:chExt cx="0" cy="0"/>
        </a:xfrm>
      </p:grpSpPr>
      <p:sp>
        <p:nvSpPr>
          <p:cNvPr id="294" name="Google Shape;294;p20"/>
          <p:cNvSpPr txBox="1"/>
          <p:nvPr/>
        </p:nvSpPr>
        <p:spPr>
          <a:xfrm>
            <a:off x="10241280" y="182880"/>
            <a:ext cx="13716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B6B7A"/>
              </a:buClr>
              <a:buSzPts val="1200"/>
              <a:buFont typeface="Calibri"/>
              <a:buNone/>
            </a:pPr>
            <a:r>
              <a:rPr b="0" i="0" lang="en-US" sz="1200" u="none" cap="none" strike="noStrike">
                <a:solidFill>
                  <a:srgbClr val="5B6B7A"/>
                </a:solidFill>
                <a:latin typeface="Calibri"/>
                <a:ea typeface="Calibri"/>
                <a:cs typeface="Calibri"/>
                <a:sym typeface="Calibri"/>
              </a:rPr>
              <a:t>Respaldo</a:t>
            </a:r>
            <a:endParaRPr b="0" i="0" sz="1200" u="none" cap="none" strike="noStrike">
              <a:solidFill>
                <a:schemeClr val="dk1"/>
              </a:solidFill>
              <a:latin typeface="Calibri"/>
              <a:ea typeface="Calibri"/>
              <a:cs typeface="Calibri"/>
              <a:sym typeface="Calibri"/>
            </a:endParaRPr>
          </a:p>
        </p:txBody>
      </p:sp>
      <p:sp>
        <p:nvSpPr>
          <p:cNvPr id="295" name="Google Shape;295;p20"/>
          <p:cNvSpPr txBox="1"/>
          <p:nvPr/>
        </p:nvSpPr>
        <p:spPr>
          <a:xfrm>
            <a:off x="548640" y="411480"/>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3400"/>
              <a:buFont typeface="Arial"/>
              <a:buNone/>
            </a:pPr>
            <a:r>
              <a:rPr b="1" i="0" lang="en-US" sz="3400" u="none" cap="none" strike="noStrike">
                <a:solidFill>
                  <a:srgbClr val="1C2733"/>
                </a:solidFill>
                <a:latin typeface="Arial"/>
                <a:ea typeface="Arial"/>
                <a:cs typeface="Arial"/>
                <a:sym typeface="Arial"/>
              </a:rPr>
              <a:t>¿Por qué copiar?</a:t>
            </a:r>
            <a:endParaRPr b="0" i="0" sz="3400" u="none" cap="none" strike="noStrike">
              <a:solidFill>
                <a:schemeClr val="dk1"/>
              </a:solidFill>
              <a:latin typeface="Calibri"/>
              <a:ea typeface="Calibri"/>
              <a:cs typeface="Calibri"/>
              <a:sym typeface="Calibri"/>
            </a:endParaRPr>
          </a:p>
        </p:txBody>
      </p:sp>
      <p:sp>
        <p:nvSpPr>
          <p:cNvPr id="296" name="Google Shape;296;p20"/>
          <p:cNvSpPr txBox="1"/>
          <p:nvPr/>
        </p:nvSpPr>
        <p:spPr>
          <a:xfrm>
            <a:off x="548640" y="1280160"/>
            <a:ext cx="54864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733"/>
              </a:buClr>
              <a:buSzPts val="2200"/>
              <a:buFont typeface="Arial"/>
              <a:buNone/>
            </a:pPr>
            <a:r>
              <a:rPr b="1" i="0" lang="en-US" sz="2200" u="none" cap="none" strike="noStrike">
                <a:solidFill>
                  <a:srgbClr val="1C2733"/>
                </a:solidFill>
                <a:latin typeface="Arial"/>
                <a:ea typeface="Arial"/>
                <a:cs typeface="Arial"/>
                <a:sym typeface="Arial"/>
              </a:rPr>
              <a:t>Versión A</a:t>
            </a:r>
            <a:endParaRPr b="0" i="0" sz="2200" u="none" cap="none" strike="noStrike">
              <a:solidFill>
                <a:schemeClr val="dk1"/>
              </a:solidFill>
              <a:latin typeface="Calibri"/>
              <a:ea typeface="Calibri"/>
              <a:cs typeface="Calibri"/>
              <a:sym typeface="Calibri"/>
            </a:endParaRPr>
          </a:p>
        </p:txBody>
      </p:sp>
      <p:sp>
        <p:nvSpPr>
          <p:cNvPr id="297" name="Google Shape;297;p20"/>
          <p:cNvSpPr/>
          <p:nvPr/>
        </p:nvSpPr>
        <p:spPr>
          <a:xfrm>
            <a:off x="548640" y="1737360"/>
            <a:ext cx="11064240" cy="1417320"/>
          </a:xfrm>
          <a:prstGeom prst="roundRect">
            <a:avLst>
              <a:gd fmla="val 7742" name="adj"/>
            </a:avLst>
          </a:prstGeom>
          <a:solidFill>
            <a:srgbClr val="1F2A36"/>
          </a:solidFill>
          <a:ln cap="flat" cmpd="sng" w="12700">
            <a:solidFill>
              <a:srgbClr val="1F2A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0"/>
          <p:cNvSpPr txBox="1"/>
          <p:nvPr/>
        </p:nvSpPr>
        <p:spPr>
          <a:xfrm>
            <a:off x="822960" y="1965960"/>
            <a:ext cx="10515600" cy="9601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E8EDF2"/>
              </a:buClr>
              <a:buSzPts val="2200"/>
              <a:buFont typeface="Courier New"/>
              <a:buNone/>
            </a:pPr>
            <a:r>
              <a:rPr b="0" i="0" lang="en-US" sz="2200" u="none" cap="none" strike="noStrike">
                <a:solidFill>
                  <a:srgbClr val="E8EDF2"/>
                </a:solidFill>
                <a:latin typeface="Courier New"/>
                <a:ea typeface="Courier New"/>
                <a:cs typeface="Courier New"/>
                <a:sym typeface="Courier New"/>
              </a:rPr>
              <a:t>constructor(transacciones: Transaccion[]) {</a:t>
            </a:r>
            <a:endParaRPr b="0" i="0" sz="2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2200"/>
              <a:buFont typeface="Courier New"/>
              <a:buNone/>
            </a:pPr>
            <a:r>
              <a:rPr b="0" i="0" lang="en-US" sz="2200" u="none" cap="none" strike="noStrike">
                <a:solidFill>
                  <a:srgbClr val="E8EDF2"/>
                </a:solidFill>
                <a:latin typeface="Courier New"/>
                <a:ea typeface="Courier New"/>
                <a:cs typeface="Courier New"/>
                <a:sym typeface="Courier New"/>
              </a:rPr>
              <a:t>  this.transacciones = transacciones;</a:t>
            </a:r>
            <a:endParaRPr b="0" i="0" sz="2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2200"/>
              <a:buFont typeface="Courier New"/>
              <a:buNone/>
            </a:pPr>
            <a:r>
              <a:rPr b="0" i="0" lang="en-US" sz="2200" u="none" cap="none" strike="noStrike">
                <a:solidFill>
                  <a:srgbClr val="E8EDF2"/>
                </a:solidFill>
                <a:latin typeface="Courier New"/>
                <a:ea typeface="Courier New"/>
                <a:cs typeface="Courier New"/>
                <a:sym typeface="Courier New"/>
              </a:rPr>
              <a:t>}</a:t>
            </a:r>
            <a:endParaRPr b="0" i="0" sz="2200" u="none" cap="none" strike="noStrike">
              <a:solidFill>
                <a:schemeClr val="dk1"/>
              </a:solidFill>
              <a:latin typeface="Calibri"/>
              <a:ea typeface="Calibri"/>
              <a:cs typeface="Calibri"/>
              <a:sym typeface="Calibri"/>
            </a:endParaRPr>
          </a:p>
        </p:txBody>
      </p:sp>
      <p:sp>
        <p:nvSpPr>
          <p:cNvPr id="299" name="Google Shape;299;p20"/>
          <p:cNvSpPr txBox="1"/>
          <p:nvPr/>
        </p:nvSpPr>
        <p:spPr>
          <a:xfrm>
            <a:off x="548640" y="3429000"/>
            <a:ext cx="54864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733"/>
              </a:buClr>
              <a:buSzPts val="2200"/>
              <a:buFont typeface="Arial"/>
              <a:buNone/>
            </a:pPr>
            <a:r>
              <a:rPr b="1" i="0" lang="en-US" sz="2200" u="none" cap="none" strike="noStrike">
                <a:solidFill>
                  <a:srgbClr val="1C2733"/>
                </a:solidFill>
                <a:latin typeface="Arial"/>
                <a:ea typeface="Arial"/>
                <a:cs typeface="Arial"/>
                <a:sym typeface="Arial"/>
              </a:rPr>
              <a:t>Versión B</a:t>
            </a:r>
            <a:endParaRPr b="0" i="0" sz="2200" u="none" cap="none" strike="noStrike">
              <a:solidFill>
                <a:schemeClr val="dk1"/>
              </a:solidFill>
              <a:latin typeface="Calibri"/>
              <a:ea typeface="Calibri"/>
              <a:cs typeface="Calibri"/>
              <a:sym typeface="Calibri"/>
            </a:endParaRPr>
          </a:p>
        </p:txBody>
      </p:sp>
      <p:sp>
        <p:nvSpPr>
          <p:cNvPr id="300" name="Google Shape;300;p20"/>
          <p:cNvSpPr/>
          <p:nvPr/>
        </p:nvSpPr>
        <p:spPr>
          <a:xfrm>
            <a:off x="548640" y="3886200"/>
            <a:ext cx="11064240" cy="1417320"/>
          </a:xfrm>
          <a:prstGeom prst="roundRect">
            <a:avLst>
              <a:gd fmla="val 7742" name="adj"/>
            </a:avLst>
          </a:prstGeom>
          <a:solidFill>
            <a:srgbClr val="1F2A36"/>
          </a:solidFill>
          <a:ln cap="flat" cmpd="sng" w="12700">
            <a:solidFill>
              <a:srgbClr val="1F2A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0"/>
          <p:cNvSpPr txBox="1"/>
          <p:nvPr/>
        </p:nvSpPr>
        <p:spPr>
          <a:xfrm>
            <a:off x="822960" y="4114800"/>
            <a:ext cx="10515600" cy="9601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E8EDF2"/>
              </a:buClr>
              <a:buSzPts val="2200"/>
              <a:buFont typeface="Courier New"/>
              <a:buNone/>
            </a:pPr>
            <a:r>
              <a:rPr b="0" i="0" lang="en-US" sz="2200" u="none" cap="none" strike="noStrike">
                <a:solidFill>
                  <a:srgbClr val="E8EDF2"/>
                </a:solidFill>
                <a:latin typeface="Courier New"/>
                <a:ea typeface="Courier New"/>
                <a:cs typeface="Courier New"/>
                <a:sym typeface="Courier New"/>
              </a:rPr>
              <a:t>constructor(transacciones: Transaccion[]) {</a:t>
            </a:r>
            <a:endParaRPr b="0" i="0" sz="2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2B656"/>
              </a:buClr>
              <a:buSzPts val="2200"/>
              <a:buFont typeface="Courier New"/>
              <a:buNone/>
            </a:pPr>
            <a:r>
              <a:rPr b="0" i="0" lang="en-US" sz="2200" u="none" cap="none" strike="noStrike">
                <a:solidFill>
                  <a:srgbClr val="F2B656"/>
                </a:solidFill>
                <a:latin typeface="Courier New"/>
                <a:ea typeface="Courier New"/>
                <a:cs typeface="Courier New"/>
                <a:sym typeface="Courier New"/>
              </a:rPr>
              <a:t>  this.transacciones = [...transacciones];</a:t>
            </a:r>
            <a:endParaRPr b="0" i="0" sz="2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2200"/>
              <a:buFont typeface="Courier New"/>
              <a:buNone/>
            </a:pPr>
            <a:r>
              <a:rPr b="0" i="0" lang="en-US" sz="2200" u="none" cap="none" strike="noStrike">
                <a:solidFill>
                  <a:srgbClr val="E8EDF2"/>
                </a:solidFill>
                <a:latin typeface="Courier New"/>
                <a:ea typeface="Courier New"/>
                <a:cs typeface="Courier New"/>
                <a:sym typeface="Courier New"/>
              </a:rPr>
              <a:t>}</a:t>
            </a:r>
            <a:endParaRPr b="0" i="0" sz="2200" u="none" cap="none" strike="noStrike">
              <a:solidFill>
                <a:schemeClr val="dk1"/>
              </a:solidFill>
              <a:latin typeface="Calibri"/>
              <a:ea typeface="Calibri"/>
              <a:cs typeface="Calibri"/>
              <a:sym typeface="Calibri"/>
            </a:endParaRPr>
          </a:p>
        </p:txBody>
      </p:sp>
      <p:sp>
        <p:nvSpPr>
          <p:cNvPr id="302" name="Google Shape;302;p20"/>
          <p:cNvSpPr txBox="1"/>
          <p:nvPr/>
        </p:nvSpPr>
        <p:spPr>
          <a:xfrm>
            <a:off x="548640" y="5577840"/>
            <a:ext cx="1106424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B6B7A"/>
              </a:buClr>
              <a:buSzPts val="2200"/>
              <a:buFont typeface="Calibri"/>
              <a:buNone/>
            </a:pPr>
            <a:r>
              <a:rPr b="0" i="0" lang="en-US" sz="2200" u="none" cap="none" strike="noStrike">
                <a:solidFill>
                  <a:srgbClr val="5B6B7A"/>
                </a:solidFill>
                <a:latin typeface="Calibri"/>
                <a:ea typeface="Calibri"/>
                <a:cs typeface="Calibri"/>
                <a:sym typeface="Calibri"/>
              </a:rPr>
              <a:t>¿Quién más puede modificar el arreglo después de construir el objeto?</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7" name="Shape 307"/>
        <p:cNvGrpSpPr/>
        <p:nvPr/>
      </p:nvGrpSpPr>
      <p:grpSpPr>
        <a:xfrm>
          <a:off x="0" y="0"/>
          <a:ext cx="0" cy="0"/>
          <a:chOff x="0" y="0"/>
          <a:chExt cx="0" cy="0"/>
        </a:xfrm>
      </p:grpSpPr>
      <p:sp>
        <p:nvSpPr>
          <p:cNvPr id="308" name="Google Shape;308;p21"/>
          <p:cNvSpPr txBox="1"/>
          <p:nvPr/>
        </p:nvSpPr>
        <p:spPr>
          <a:xfrm>
            <a:off x="10241280" y="182880"/>
            <a:ext cx="13716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B6B7A"/>
              </a:buClr>
              <a:buSzPts val="1200"/>
              <a:buFont typeface="Calibri"/>
              <a:buNone/>
            </a:pPr>
            <a:r>
              <a:rPr b="0" i="0" lang="en-US" sz="1200" u="none" cap="none" strike="noStrike">
                <a:solidFill>
                  <a:srgbClr val="5B6B7A"/>
                </a:solidFill>
                <a:latin typeface="Calibri"/>
                <a:ea typeface="Calibri"/>
                <a:cs typeface="Calibri"/>
                <a:sym typeface="Calibri"/>
              </a:rPr>
              <a:t>Respaldo</a:t>
            </a:r>
            <a:endParaRPr b="0" i="0" sz="1200" u="none" cap="none" strike="noStrike">
              <a:solidFill>
                <a:schemeClr val="dk1"/>
              </a:solidFill>
              <a:latin typeface="Calibri"/>
              <a:ea typeface="Calibri"/>
              <a:cs typeface="Calibri"/>
              <a:sym typeface="Calibri"/>
            </a:endParaRPr>
          </a:p>
        </p:txBody>
      </p:sp>
      <p:sp>
        <p:nvSpPr>
          <p:cNvPr id="309" name="Google Shape;309;p21"/>
          <p:cNvSpPr txBox="1"/>
          <p:nvPr/>
        </p:nvSpPr>
        <p:spPr>
          <a:xfrm>
            <a:off x="548640" y="411480"/>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3400"/>
              <a:buFont typeface="Arial"/>
              <a:buNone/>
            </a:pPr>
            <a:r>
              <a:rPr b="1" i="0" lang="en-US" sz="3400" u="none" cap="none" strike="noStrike">
                <a:solidFill>
                  <a:srgbClr val="1C2733"/>
                </a:solidFill>
                <a:latin typeface="Arial"/>
                <a:ea typeface="Arial"/>
                <a:cs typeface="Arial"/>
                <a:sym typeface="Arial"/>
              </a:rPr>
              <a:t>Plan B: un segundo proveedor</a:t>
            </a:r>
            <a:endParaRPr b="0" i="0" sz="3400" u="none" cap="none" strike="noStrike">
              <a:solidFill>
                <a:schemeClr val="dk1"/>
              </a:solidFill>
              <a:latin typeface="Calibri"/>
              <a:ea typeface="Calibri"/>
              <a:cs typeface="Calibri"/>
              <a:sym typeface="Calibri"/>
            </a:endParaRPr>
          </a:p>
        </p:txBody>
      </p:sp>
      <p:sp>
        <p:nvSpPr>
          <p:cNvPr id="310" name="Google Shape;310;p21"/>
          <p:cNvSpPr/>
          <p:nvPr/>
        </p:nvSpPr>
        <p:spPr>
          <a:xfrm>
            <a:off x="548640" y="1234440"/>
            <a:ext cx="11064240" cy="777240"/>
          </a:xfrm>
          <a:prstGeom prst="roundRect">
            <a:avLst>
              <a:gd fmla="val 14118" name="adj"/>
            </a:avLst>
          </a:prstGeom>
          <a:solidFill>
            <a:srgbClr val="F1F4F7"/>
          </a:solidFill>
          <a:ln cap="flat" cmpd="sng" w="12700">
            <a:solidFill>
              <a:srgbClr val="F1F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1"/>
          <p:cNvSpPr txBox="1"/>
          <p:nvPr/>
        </p:nvSpPr>
        <p:spPr>
          <a:xfrm>
            <a:off x="822960" y="1234440"/>
            <a:ext cx="10515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2000"/>
              <a:buFont typeface="Calibri"/>
              <a:buNone/>
            </a:pPr>
            <a:r>
              <a:rPr b="0" i="0" lang="en-US" sz="2000" u="none" cap="none" strike="noStrike">
                <a:solidFill>
                  <a:srgbClr val="1C2733"/>
                </a:solidFill>
                <a:latin typeface="Calibri"/>
                <a:ea typeface="Calibri"/>
                <a:cs typeface="Calibri"/>
                <a:sym typeface="Calibri"/>
              </a:rPr>
              <a:t>Finanzas integró un segundo proveedor: mismas métricas para el lote A, el lote B y ambos combinados.</a:t>
            </a:r>
            <a:endParaRPr b="0" i="0" sz="2000" u="none" cap="none" strike="noStrike">
              <a:solidFill>
                <a:schemeClr val="dk1"/>
              </a:solidFill>
              <a:latin typeface="Calibri"/>
              <a:ea typeface="Calibri"/>
              <a:cs typeface="Calibri"/>
              <a:sym typeface="Calibri"/>
            </a:endParaRPr>
          </a:p>
        </p:txBody>
      </p:sp>
      <p:sp>
        <p:nvSpPr>
          <p:cNvPr id="312" name="Google Shape;312;p21"/>
          <p:cNvSpPr txBox="1"/>
          <p:nvPr/>
        </p:nvSpPr>
        <p:spPr>
          <a:xfrm>
            <a:off x="548640" y="2148840"/>
            <a:ext cx="110642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9B2D"/>
              </a:buClr>
              <a:buSzPts val="2600"/>
              <a:buFont typeface="Arial"/>
              <a:buNone/>
            </a:pPr>
            <a:r>
              <a:rPr b="1" i="0" lang="en-US" sz="2600" u="none" cap="none" strike="noStrike">
                <a:solidFill>
                  <a:srgbClr val="E39B2D"/>
                </a:solidFill>
                <a:latin typeface="Arial"/>
                <a:ea typeface="Arial"/>
                <a:cs typeface="Arial"/>
                <a:sym typeface="Arial"/>
              </a:rPr>
              <a:t>¿Qué tendrían que cambiar en cada una?</a:t>
            </a:r>
            <a:endParaRPr b="0" i="0" sz="2600" u="none" cap="none" strike="noStrike">
              <a:solidFill>
                <a:schemeClr val="dk1"/>
              </a:solidFill>
              <a:latin typeface="Calibri"/>
              <a:ea typeface="Calibri"/>
              <a:cs typeface="Calibri"/>
              <a:sym typeface="Calibri"/>
            </a:endParaRPr>
          </a:p>
        </p:txBody>
      </p:sp>
      <p:sp>
        <p:nvSpPr>
          <p:cNvPr id="313" name="Google Shape;313;p21"/>
          <p:cNvSpPr txBox="1"/>
          <p:nvPr/>
        </p:nvSpPr>
        <p:spPr>
          <a:xfrm>
            <a:off x="548640" y="2697480"/>
            <a:ext cx="53949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733"/>
              </a:buClr>
              <a:buSzPts val="2000"/>
              <a:buFont typeface="Arial"/>
              <a:buNone/>
            </a:pPr>
            <a:r>
              <a:rPr b="1" i="0" lang="en-US" sz="2000" u="none" cap="none" strike="noStrike">
                <a:solidFill>
                  <a:srgbClr val="1C2733"/>
                </a:solidFill>
                <a:latin typeface="Arial"/>
                <a:ea typeface="Arial"/>
                <a:cs typeface="Arial"/>
                <a:sym typeface="Arial"/>
              </a:rPr>
              <a:t>Script</a:t>
            </a:r>
            <a:endParaRPr b="0" i="0" sz="2000" u="none" cap="none" strike="noStrike">
              <a:solidFill>
                <a:schemeClr val="dk1"/>
              </a:solidFill>
              <a:latin typeface="Calibri"/>
              <a:ea typeface="Calibri"/>
              <a:cs typeface="Calibri"/>
              <a:sym typeface="Calibri"/>
            </a:endParaRPr>
          </a:p>
        </p:txBody>
      </p:sp>
      <p:sp>
        <p:nvSpPr>
          <p:cNvPr id="314" name="Google Shape;314;p21"/>
          <p:cNvSpPr txBox="1"/>
          <p:nvPr/>
        </p:nvSpPr>
        <p:spPr>
          <a:xfrm>
            <a:off x="6217920" y="2697480"/>
            <a:ext cx="53949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733"/>
              </a:buClr>
              <a:buSzPts val="2000"/>
              <a:buFont typeface="Arial"/>
              <a:buNone/>
            </a:pPr>
            <a:r>
              <a:rPr b="1" i="0" lang="en-US" sz="2000" u="none" cap="none" strike="noStrike">
                <a:solidFill>
                  <a:srgbClr val="1C2733"/>
                </a:solidFill>
                <a:latin typeface="Arial"/>
                <a:ea typeface="Arial"/>
                <a:cs typeface="Arial"/>
                <a:sym typeface="Arial"/>
              </a:rPr>
              <a:t>Clase</a:t>
            </a:r>
            <a:endParaRPr b="0" i="0" sz="2000" u="none" cap="none" strike="noStrike">
              <a:solidFill>
                <a:schemeClr val="dk1"/>
              </a:solidFill>
              <a:latin typeface="Calibri"/>
              <a:ea typeface="Calibri"/>
              <a:cs typeface="Calibri"/>
              <a:sym typeface="Calibri"/>
            </a:endParaRPr>
          </a:p>
        </p:txBody>
      </p:sp>
      <p:sp>
        <p:nvSpPr>
          <p:cNvPr id="315" name="Google Shape;315;p21"/>
          <p:cNvSpPr/>
          <p:nvPr/>
        </p:nvSpPr>
        <p:spPr>
          <a:xfrm>
            <a:off x="548640" y="3108960"/>
            <a:ext cx="5394960" cy="3200400"/>
          </a:xfrm>
          <a:prstGeom prst="roundRect">
            <a:avLst>
              <a:gd fmla="val 3429" name="adj"/>
            </a:avLst>
          </a:prstGeom>
          <a:solidFill>
            <a:srgbClr val="1F2A36"/>
          </a:solidFill>
          <a:ln cap="flat" cmpd="sng" w="12700">
            <a:solidFill>
              <a:srgbClr val="1F2A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1"/>
          <p:cNvSpPr txBox="1"/>
          <p:nvPr/>
        </p:nvSpPr>
        <p:spPr>
          <a:xfrm>
            <a:off x="822960" y="3337560"/>
            <a:ext cx="4846320" cy="2743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E8EDF2"/>
              </a:buClr>
              <a:buSzPts val="1600"/>
              <a:buFont typeface="Courier New"/>
              <a:buNone/>
            </a:pPr>
            <a:r>
              <a:rPr b="0" i="0" lang="en-US" sz="1600" u="none" cap="none" strike="noStrike">
                <a:solidFill>
                  <a:srgbClr val="E8EDF2"/>
                </a:solidFill>
                <a:latin typeface="Courier New"/>
                <a:ea typeface="Courier New"/>
                <a:cs typeface="Courier New"/>
                <a:sym typeface="Courier New"/>
              </a:rPr>
              <a:t>let total = 0;</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600"/>
              <a:buFont typeface="Courier New"/>
              <a:buNone/>
            </a:pPr>
            <a:r>
              <a:rPr b="0" i="0" lang="en-US" sz="1600" u="none" cap="none" strike="noStrike">
                <a:solidFill>
                  <a:srgbClr val="E8EDF2"/>
                </a:solidFill>
                <a:latin typeface="Courier New"/>
                <a:ea typeface="Courier New"/>
                <a:cs typeface="Courier New"/>
                <a:sym typeface="Courier New"/>
              </a:rPr>
              <a:t>let cantidad = 0;</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600"/>
              <a:buFont typeface="Courier New"/>
              <a:buNone/>
            </a:pPr>
            <a:r>
              <a:rPr b="0" i="0" lang="en-US" sz="1600" u="none" cap="none" strike="noStrike">
                <a:solidFill>
                  <a:srgbClr val="E8EDF2"/>
                </a:solidFill>
                <a:latin typeface="Courier New"/>
                <a:ea typeface="Courier New"/>
                <a:cs typeface="Courier New"/>
                <a:sym typeface="Courier New"/>
              </a:rPr>
              <a:t>for (const t of lote)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600"/>
              <a:buFont typeface="Courier New"/>
              <a:buNone/>
            </a:pPr>
            <a:r>
              <a:rPr b="0" i="0" lang="en-US" sz="1600" u="none" cap="none" strike="noStrike">
                <a:solidFill>
                  <a:srgbClr val="E8EDF2"/>
                </a:solidFill>
                <a:latin typeface="Courier New"/>
                <a:ea typeface="Courier New"/>
                <a:cs typeface="Courier New"/>
                <a:sym typeface="Courier New"/>
              </a:rPr>
              <a:t>  if (t.estado === 'APROBADA')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600"/>
              <a:buFont typeface="Courier New"/>
              <a:buNone/>
            </a:pPr>
            <a:r>
              <a:rPr b="0" i="0" lang="en-US" sz="1600" u="none" cap="none" strike="noStrike">
                <a:solidFill>
                  <a:srgbClr val="E8EDF2"/>
                </a:solidFill>
                <a:latin typeface="Courier New"/>
                <a:ea typeface="Courier New"/>
                <a:cs typeface="Courier New"/>
                <a:sym typeface="Courier New"/>
              </a:rPr>
              <a:t>    total += t.moneda === 'USD'</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600"/>
              <a:buFont typeface="Courier New"/>
              <a:buNone/>
            </a:pPr>
            <a:r>
              <a:rPr b="0" i="0" lang="en-US" sz="1600" u="none" cap="none" strike="noStrike">
                <a:solidFill>
                  <a:srgbClr val="E8EDF2"/>
                </a:solidFill>
                <a:latin typeface="Courier New"/>
                <a:ea typeface="Courier New"/>
                <a:cs typeface="Courier New"/>
                <a:sym typeface="Courier New"/>
              </a:rPr>
              <a:t>      ? t.monto * 1000 : t.monto;</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600"/>
              <a:buFont typeface="Courier New"/>
              <a:buNone/>
            </a:pPr>
            <a:r>
              <a:rPr b="0" i="0" lang="en-US" sz="1600" u="none" cap="none" strike="noStrike">
                <a:solidFill>
                  <a:srgbClr val="E8EDF2"/>
                </a:solidFill>
                <a:latin typeface="Courier New"/>
                <a:ea typeface="Courier New"/>
                <a:cs typeface="Courier New"/>
                <a:sym typeface="Courier New"/>
              </a:rPr>
              <a:t>    cantidad++;</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600"/>
              <a:buFont typeface="Courier New"/>
              <a:buNone/>
            </a:pPr>
            <a:r>
              <a:rPr b="0" i="0" lang="en-US" sz="1600" u="none" cap="none" strike="noStrike">
                <a:solidFill>
                  <a:srgbClr val="E8EDF2"/>
                </a:solidFill>
                <a:latin typeface="Courier New"/>
                <a:ea typeface="Courier New"/>
                <a:cs typeface="Courier New"/>
                <a:sym typeface="Courier New"/>
              </a:rPr>
              <a:t>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600"/>
              <a:buFont typeface="Courier New"/>
              <a:buNone/>
            </a:pPr>
            <a:r>
              <a:rPr b="0" i="0" lang="en-US" sz="1600" u="none" cap="none" strike="noStrike">
                <a:solidFill>
                  <a:srgbClr val="E8EDF2"/>
                </a:solidFill>
                <a:latin typeface="Courier New"/>
                <a:ea typeface="Courier New"/>
                <a:cs typeface="Courier New"/>
                <a:sym typeface="Courier New"/>
              </a:rPr>
              <a:t>}</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600"/>
              <a:buFont typeface="Courier New"/>
              <a:buNone/>
            </a:pPr>
            <a:r>
              <a:rPr b="0" i="0" lang="en-US" sz="1600" u="none" cap="none" strike="noStrike">
                <a:solidFill>
                  <a:srgbClr val="E8EDF2"/>
                </a:solidFill>
                <a:latin typeface="Courier New"/>
                <a:ea typeface="Courier New"/>
                <a:cs typeface="Courier New"/>
                <a:sym typeface="Courier New"/>
              </a:rPr>
              <a:t>const promedio = total / cantidad;</a:t>
            </a:r>
            <a:endParaRPr b="0" i="0" sz="1600" u="none" cap="none" strike="noStrike">
              <a:solidFill>
                <a:schemeClr val="dk1"/>
              </a:solidFill>
              <a:latin typeface="Calibri"/>
              <a:ea typeface="Calibri"/>
              <a:cs typeface="Calibri"/>
              <a:sym typeface="Calibri"/>
            </a:endParaRPr>
          </a:p>
        </p:txBody>
      </p:sp>
      <p:sp>
        <p:nvSpPr>
          <p:cNvPr id="317" name="Google Shape;317;p21"/>
          <p:cNvSpPr/>
          <p:nvPr/>
        </p:nvSpPr>
        <p:spPr>
          <a:xfrm>
            <a:off x="6217920" y="3108960"/>
            <a:ext cx="5394960" cy="3200400"/>
          </a:xfrm>
          <a:prstGeom prst="roundRect">
            <a:avLst>
              <a:gd fmla="val 3429" name="adj"/>
            </a:avLst>
          </a:prstGeom>
          <a:solidFill>
            <a:srgbClr val="1F2A36"/>
          </a:solidFill>
          <a:ln cap="flat" cmpd="sng" w="12700">
            <a:solidFill>
              <a:srgbClr val="1F2A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1"/>
          <p:cNvSpPr txBox="1"/>
          <p:nvPr/>
        </p:nvSpPr>
        <p:spPr>
          <a:xfrm>
            <a:off x="6492240" y="3337560"/>
            <a:ext cx="4846320" cy="2743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E8EDF2"/>
              </a:buClr>
              <a:buSzPts val="1600"/>
              <a:buFont typeface="Courier New"/>
              <a:buNone/>
            </a:pPr>
            <a:r>
              <a:rPr b="0" i="0" lang="en-US" sz="1600" u="none" cap="none" strike="noStrike">
                <a:solidFill>
                  <a:srgbClr val="E8EDF2"/>
                </a:solidFill>
                <a:latin typeface="Courier New"/>
                <a:ea typeface="Courier New"/>
                <a:cs typeface="Courier New"/>
                <a:sym typeface="Courier New"/>
              </a:rPr>
              <a:t>class LoteDeTransacciones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600"/>
              <a:buFont typeface="Courier New"/>
              <a:buNone/>
            </a:pPr>
            <a:r>
              <a:rPr b="0" i="0" lang="en-US" sz="1600" u="none" cap="none" strike="noStrike">
                <a:solidFill>
                  <a:srgbClr val="E8EDF2"/>
                </a:solidFill>
                <a:latin typeface="Courier New"/>
                <a:ea typeface="Courier New"/>
                <a:cs typeface="Courier New"/>
                <a:sym typeface="Courier New"/>
              </a:rPr>
              <a:t>  constructor(t: Transaccion[]) { …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600"/>
              <a:buFont typeface="Courier New"/>
              <a:buNone/>
            </a:pPr>
            <a:r>
              <a:rPr b="0" i="0" lang="en-US" sz="1600" u="none" cap="none" strike="noStrike">
                <a:solidFill>
                  <a:srgbClr val="E8EDF2"/>
                </a:solidFill>
                <a:latin typeface="Courier New"/>
                <a:ea typeface="Courier New"/>
                <a:cs typeface="Courier New"/>
                <a:sym typeface="Courier New"/>
              </a:rPr>
              <a:t>  private esValida(t) { …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600"/>
              <a:buFont typeface="Courier New"/>
              <a:buNone/>
            </a:pPr>
            <a:r>
              <a:rPr b="0" i="0" lang="en-US" sz="1600" u="none" cap="none" strike="noStrike">
                <a:solidFill>
                  <a:srgbClr val="E8EDF2"/>
                </a:solidFill>
                <a:latin typeface="Courier New"/>
                <a:ea typeface="Courier New"/>
                <a:cs typeface="Courier New"/>
                <a:sym typeface="Courier New"/>
              </a:rPr>
              <a:t>  private aPesos(t) { …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600"/>
              <a:buFont typeface="Courier New"/>
              <a:buNone/>
            </a:pPr>
            <a:r>
              <a:rPr b="0" i="0" lang="en-US" sz="1600" u="none" cap="none" strike="noStrike">
                <a:solidFill>
                  <a:srgbClr val="E8EDF2"/>
                </a:solidFill>
                <a:latin typeface="Courier New"/>
                <a:ea typeface="Courier New"/>
                <a:cs typeface="Courier New"/>
                <a:sym typeface="Courier New"/>
              </a:rPr>
              <a:t>  totalNetoARS() { …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600"/>
              <a:buFont typeface="Courier New"/>
              <a:buNone/>
            </a:pPr>
            <a:r>
              <a:rPr b="0" i="0" lang="en-US" sz="1600" u="none" cap="none" strike="noStrike">
                <a:solidFill>
                  <a:srgbClr val="E8EDF2"/>
                </a:solidFill>
                <a:latin typeface="Courier New"/>
                <a:ea typeface="Courier New"/>
                <a:cs typeface="Courier New"/>
                <a:sym typeface="Courier New"/>
              </a:rPr>
              <a:t>  promedioARS() { … }</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600"/>
              <a:buFont typeface="Courier New"/>
              <a:buNone/>
            </a:pPr>
            <a:r>
              <a:rPr b="0" i="0" lang="en-US" sz="1600" u="none" cap="none" strike="noStrike">
                <a:solidFill>
                  <a:srgbClr val="E8EDF2"/>
                </a:solidFill>
                <a:latin typeface="Courier New"/>
                <a:ea typeface="Courier New"/>
                <a:cs typeface="Courier New"/>
                <a:sym typeface="Courier New"/>
              </a:rPr>
              <a:t>}</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3" name="Shape 323"/>
        <p:cNvGrpSpPr/>
        <p:nvPr/>
      </p:nvGrpSpPr>
      <p:grpSpPr>
        <a:xfrm>
          <a:off x="0" y="0"/>
          <a:ext cx="0" cy="0"/>
          <a:chOff x="0" y="0"/>
          <a:chExt cx="0" cy="0"/>
        </a:xfrm>
      </p:grpSpPr>
      <p:sp>
        <p:nvSpPr>
          <p:cNvPr id="324" name="Google Shape;324;p22"/>
          <p:cNvSpPr txBox="1"/>
          <p:nvPr/>
        </p:nvSpPr>
        <p:spPr>
          <a:xfrm>
            <a:off x="10241280" y="182880"/>
            <a:ext cx="13716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B6B7A"/>
              </a:buClr>
              <a:buSzPts val="1200"/>
              <a:buFont typeface="Calibri"/>
              <a:buNone/>
            </a:pPr>
            <a:r>
              <a:rPr b="0" i="0" lang="en-US" sz="1200" u="none" cap="none" strike="noStrike">
                <a:solidFill>
                  <a:srgbClr val="5B6B7A"/>
                </a:solidFill>
                <a:latin typeface="Calibri"/>
                <a:ea typeface="Calibri"/>
                <a:cs typeface="Calibri"/>
                <a:sym typeface="Calibri"/>
              </a:rPr>
              <a:t>Respaldo</a:t>
            </a:r>
            <a:endParaRPr b="0" i="0" sz="1200" u="none" cap="none" strike="noStrike">
              <a:solidFill>
                <a:schemeClr val="dk1"/>
              </a:solidFill>
              <a:latin typeface="Calibri"/>
              <a:ea typeface="Calibri"/>
              <a:cs typeface="Calibri"/>
              <a:sym typeface="Calibri"/>
            </a:endParaRPr>
          </a:p>
        </p:txBody>
      </p:sp>
      <p:sp>
        <p:nvSpPr>
          <p:cNvPr id="325" name="Google Shape;325;p22"/>
          <p:cNvSpPr txBox="1"/>
          <p:nvPr/>
        </p:nvSpPr>
        <p:spPr>
          <a:xfrm>
            <a:off x="548640" y="411480"/>
            <a:ext cx="110642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2733"/>
              </a:buClr>
              <a:buSzPts val="3400"/>
              <a:buFont typeface="Arial"/>
              <a:buNone/>
            </a:pPr>
            <a:r>
              <a:rPr b="1" i="0" lang="en-US" sz="3400" u="none" cap="none" strike="noStrike">
                <a:solidFill>
                  <a:srgbClr val="1C2733"/>
                </a:solidFill>
                <a:latin typeface="Arial"/>
                <a:ea typeface="Arial"/>
                <a:cs typeface="Arial"/>
                <a:sym typeface="Arial"/>
              </a:rPr>
              <a:t>Plan B: la implementación</a:t>
            </a:r>
            <a:endParaRPr b="0" i="0" sz="3400" u="none" cap="none" strike="noStrike">
              <a:solidFill>
                <a:schemeClr val="dk1"/>
              </a:solidFill>
              <a:latin typeface="Calibri"/>
              <a:ea typeface="Calibri"/>
              <a:cs typeface="Calibri"/>
              <a:sym typeface="Calibri"/>
            </a:endParaRPr>
          </a:p>
        </p:txBody>
      </p:sp>
      <p:sp>
        <p:nvSpPr>
          <p:cNvPr id="326" name="Google Shape;326;p22"/>
          <p:cNvSpPr txBox="1"/>
          <p:nvPr/>
        </p:nvSpPr>
        <p:spPr>
          <a:xfrm>
            <a:off x="548640" y="1188720"/>
            <a:ext cx="53949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733"/>
              </a:buClr>
              <a:buSzPts val="2000"/>
              <a:buFont typeface="Arial"/>
              <a:buNone/>
            </a:pPr>
            <a:r>
              <a:rPr b="1" i="0" lang="en-US" sz="2000" u="none" cap="none" strike="noStrike">
                <a:solidFill>
                  <a:srgbClr val="1C2733"/>
                </a:solidFill>
                <a:latin typeface="Arial"/>
                <a:ea typeface="Arial"/>
                <a:cs typeface="Arial"/>
                <a:sym typeface="Arial"/>
              </a:rPr>
              <a:t>Script</a:t>
            </a:r>
            <a:endParaRPr b="0" i="0" sz="2000" u="none" cap="none" strike="noStrike">
              <a:solidFill>
                <a:schemeClr val="dk1"/>
              </a:solidFill>
              <a:latin typeface="Calibri"/>
              <a:ea typeface="Calibri"/>
              <a:cs typeface="Calibri"/>
              <a:sym typeface="Calibri"/>
            </a:endParaRPr>
          </a:p>
        </p:txBody>
      </p:sp>
      <p:sp>
        <p:nvSpPr>
          <p:cNvPr id="327" name="Google Shape;327;p22"/>
          <p:cNvSpPr txBox="1"/>
          <p:nvPr/>
        </p:nvSpPr>
        <p:spPr>
          <a:xfrm>
            <a:off x="6217920" y="1188720"/>
            <a:ext cx="53949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C2733"/>
              </a:buClr>
              <a:buSzPts val="2000"/>
              <a:buFont typeface="Arial"/>
              <a:buNone/>
            </a:pPr>
            <a:r>
              <a:rPr b="1" i="0" lang="en-US" sz="2000" u="none" cap="none" strike="noStrike">
                <a:solidFill>
                  <a:srgbClr val="1C2733"/>
                </a:solidFill>
                <a:latin typeface="Arial"/>
                <a:ea typeface="Arial"/>
                <a:cs typeface="Arial"/>
                <a:sym typeface="Arial"/>
              </a:rPr>
              <a:t>Clase</a:t>
            </a:r>
            <a:endParaRPr b="0" i="0" sz="2000" u="none" cap="none" strike="noStrike">
              <a:solidFill>
                <a:schemeClr val="dk1"/>
              </a:solidFill>
              <a:latin typeface="Calibri"/>
              <a:ea typeface="Calibri"/>
              <a:cs typeface="Calibri"/>
              <a:sym typeface="Calibri"/>
            </a:endParaRPr>
          </a:p>
        </p:txBody>
      </p:sp>
      <p:sp>
        <p:nvSpPr>
          <p:cNvPr id="328" name="Google Shape;328;p22"/>
          <p:cNvSpPr/>
          <p:nvPr/>
        </p:nvSpPr>
        <p:spPr>
          <a:xfrm>
            <a:off x="548640" y="1600200"/>
            <a:ext cx="5394960" cy="4114800"/>
          </a:xfrm>
          <a:prstGeom prst="roundRect">
            <a:avLst>
              <a:gd fmla="val 2667" name="adj"/>
            </a:avLst>
          </a:prstGeom>
          <a:solidFill>
            <a:srgbClr val="1F2A36"/>
          </a:solidFill>
          <a:ln cap="flat" cmpd="sng" w="12700">
            <a:solidFill>
              <a:srgbClr val="1F2A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2"/>
          <p:cNvSpPr txBox="1"/>
          <p:nvPr/>
        </p:nvSpPr>
        <p:spPr>
          <a:xfrm>
            <a:off x="822960" y="1828800"/>
            <a:ext cx="4846320" cy="36576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2B656"/>
              </a:buClr>
              <a:buSzPts val="1400"/>
              <a:buFont typeface="Courier New"/>
              <a:buNone/>
            </a:pPr>
            <a:r>
              <a:rPr b="0" i="0" lang="en-US" sz="1400" u="none" cap="none" strike="noStrike">
                <a:solidFill>
                  <a:srgbClr val="F2B656"/>
                </a:solidFill>
                <a:latin typeface="Courier New"/>
                <a:ea typeface="Courier New"/>
                <a:cs typeface="Courier New"/>
                <a:sym typeface="Courier New"/>
              </a:rPr>
              <a:t>function metricas(lote: Transaccion[]) {</a:t>
            </a:r>
            <a:endParaRPr b="0" i="0" sz="1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400"/>
              <a:buFont typeface="Courier New"/>
              <a:buNone/>
            </a:pPr>
            <a:r>
              <a:rPr b="0" i="0" lang="en-US" sz="1400" u="none" cap="none" strike="noStrike">
                <a:solidFill>
                  <a:srgbClr val="E8EDF2"/>
                </a:solidFill>
                <a:latin typeface="Courier New"/>
                <a:ea typeface="Courier New"/>
                <a:cs typeface="Courier New"/>
                <a:sym typeface="Courier New"/>
              </a:rPr>
              <a:t>  let total = 0, cantidad = 0;</a:t>
            </a:r>
            <a:endParaRPr b="0" i="0" sz="1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400"/>
              <a:buFont typeface="Courier New"/>
              <a:buNone/>
            </a:pPr>
            <a:r>
              <a:rPr b="0" i="0" lang="en-US" sz="1400" u="none" cap="none" strike="noStrike">
                <a:solidFill>
                  <a:srgbClr val="E8EDF2"/>
                </a:solidFill>
                <a:latin typeface="Courier New"/>
                <a:ea typeface="Courier New"/>
                <a:cs typeface="Courier New"/>
                <a:sym typeface="Courier New"/>
              </a:rPr>
              <a:t>  for (const t of lote) {</a:t>
            </a:r>
            <a:endParaRPr b="0" i="0" sz="1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400"/>
              <a:buFont typeface="Courier New"/>
              <a:buNone/>
            </a:pPr>
            <a:r>
              <a:rPr b="0" i="0" lang="en-US" sz="1400" u="none" cap="none" strike="noStrike">
                <a:solidFill>
                  <a:srgbClr val="E8EDF2"/>
                </a:solidFill>
                <a:latin typeface="Courier New"/>
                <a:ea typeface="Courier New"/>
                <a:cs typeface="Courier New"/>
                <a:sym typeface="Courier New"/>
              </a:rPr>
              <a:t>    if (t.estado === 'APROBADA') {</a:t>
            </a:r>
            <a:endParaRPr b="0" i="0" sz="1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400"/>
              <a:buFont typeface="Courier New"/>
              <a:buNone/>
            </a:pPr>
            <a:r>
              <a:rPr b="0" i="0" lang="en-US" sz="1400" u="none" cap="none" strike="noStrike">
                <a:solidFill>
                  <a:srgbClr val="E8EDF2"/>
                </a:solidFill>
                <a:latin typeface="Courier New"/>
                <a:ea typeface="Courier New"/>
                <a:cs typeface="Courier New"/>
                <a:sym typeface="Courier New"/>
              </a:rPr>
              <a:t>      total += t.moneda === 'USD'</a:t>
            </a:r>
            <a:endParaRPr b="0" i="0" sz="1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400"/>
              <a:buFont typeface="Courier New"/>
              <a:buNone/>
            </a:pPr>
            <a:r>
              <a:rPr b="0" i="0" lang="en-US" sz="1400" u="none" cap="none" strike="noStrike">
                <a:solidFill>
                  <a:srgbClr val="E8EDF2"/>
                </a:solidFill>
                <a:latin typeface="Courier New"/>
                <a:ea typeface="Courier New"/>
                <a:cs typeface="Courier New"/>
                <a:sym typeface="Courier New"/>
              </a:rPr>
              <a:t>        ? t.monto * 1000 : t.monto;</a:t>
            </a:r>
            <a:endParaRPr b="0" i="0" sz="1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400"/>
              <a:buFont typeface="Courier New"/>
              <a:buNone/>
            </a:pPr>
            <a:r>
              <a:rPr b="0" i="0" lang="en-US" sz="1400" u="none" cap="none" strike="noStrike">
                <a:solidFill>
                  <a:srgbClr val="E8EDF2"/>
                </a:solidFill>
                <a:latin typeface="Courier New"/>
                <a:ea typeface="Courier New"/>
                <a:cs typeface="Courier New"/>
                <a:sym typeface="Courier New"/>
              </a:rPr>
              <a:t>      cantidad++;</a:t>
            </a:r>
            <a:endParaRPr b="0" i="0" sz="1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400"/>
              <a:buFont typeface="Courier New"/>
              <a:buNone/>
            </a:pPr>
            <a:r>
              <a:rPr b="0" i="0" lang="en-US" sz="1400" u="none" cap="none" strike="noStrike">
                <a:solidFill>
                  <a:srgbClr val="E8EDF2"/>
                </a:solidFill>
                <a:latin typeface="Courier New"/>
                <a:ea typeface="Courier New"/>
                <a:cs typeface="Courier New"/>
                <a:sym typeface="Courier New"/>
              </a:rPr>
              <a:t>    }</a:t>
            </a:r>
            <a:endParaRPr b="0" i="0" sz="1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400"/>
              <a:buFont typeface="Courier New"/>
              <a:buNone/>
            </a:pPr>
            <a:r>
              <a:rPr b="0" i="0" lang="en-US" sz="1400" u="none" cap="none" strike="noStrike">
                <a:solidFill>
                  <a:srgbClr val="E8EDF2"/>
                </a:solidFill>
                <a:latin typeface="Courier New"/>
                <a:ea typeface="Courier New"/>
                <a:cs typeface="Courier New"/>
                <a:sym typeface="Courier New"/>
              </a:rPr>
              <a:t>  }</a:t>
            </a:r>
            <a:endParaRPr b="0" i="0" sz="1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400"/>
              <a:buFont typeface="Courier New"/>
              <a:buNone/>
            </a:pPr>
            <a:r>
              <a:rPr b="0" i="0" lang="en-US" sz="1400" u="none" cap="none" strike="noStrike">
                <a:solidFill>
                  <a:srgbClr val="E8EDF2"/>
                </a:solidFill>
                <a:latin typeface="Courier New"/>
                <a:ea typeface="Courier New"/>
                <a:cs typeface="Courier New"/>
                <a:sym typeface="Courier New"/>
              </a:rPr>
              <a:t>  const promedio = total / cantidad;</a:t>
            </a:r>
            <a:endParaRPr b="0" i="0" sz="1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2B656"/>
              </a:buClr>
              <a:buSzPts val="1400"/>
              <a:buFont typeface="Courier New"/>
              <a:buNone/>
            </a:pPr>
            <a:r>
              <a:rPr b="0" i="0" lang="en-US" sz="1400" u="none" cap="none" strike="noStrike">
                <a:solidFill>
                  <a:srgbClr val="F2B656"/>
                </a:solidFill>
                <a:latin typeface="Courier New"/>
                <a:ea typeface="Courier New"/>
                <a:cs typeface="Courier New"/>
                <a:sym typeface="Courier New"/>
              </a:rPr>
              <a:t>  return { total, promedio };</a:t>
            </a:r>
            <a:endParaRPr b="0" i="0" sz="1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2B656"/>
              </a:buClr>
              <a:buSzPts val="1400"/>
              <a:buFont typeface="Courier New"/>
              <a:buNone/>
            </a:pPr>
            <a:r>
              <a:rPr b="0" i="0" lang="en-US" sz="1400" u="none" cap="none" strike="noStrike">
                <a:solidFill>
                  <a:srgbClr val="F2B656"/>
                </a:solidFill>
                <a:latin typeface="Courier New"/>
                <a:ea typeface="Courier New"/>
                <a:cs typeface="Courier New"/>
                <a:sym typeface="Courier New"/>
              </a:rPr>
              <a:t>}</a:t>
            </a:r>
            <a:endParaRPr b="0" i="0" sz="1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400"/>
              <a:buFont typeface="Courier New"/>
              <a:buNone/>
            </a:pPr>
            <a:r>
              <a:rPr b="0" i="0" lang="en-US" sz="1400" u="none" cap="none" strike="noStrike">
                <a:solidFill>
                  <a:srgbClr val="E8EDF2"/>
                </a:solidFill>
                <a:latin typeface="Courier New"/>
                <a:ea typeface="Courier New"/>
                <a:cs typeface="Courier New"/>
                <a:sym typeface="Courier New"/>
              </a:rPr>
              <a:t>const a = metricas(loteA);</a:t>
            </a:r>
            <a:endParaRPr b="0" i="0" sz="1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400"/>
              <a:buFont typeface="Courier New"/>
              <a:buNone/>
            </a:pPr>
            <a:r>
              <a:rPr b="0" i="0" lang="en-US" sz="1400" u="none" cap="none" strike="noStrike">
                <a:solidFill>
                  <a:srgbClr val="E8EDF2"/>
                </a:solidFill>
                <a:latin typeface="Courier New"/>
                <a:ea typeface="Courier New"/>
                <a:cs typeface="Courier New"/>
                <a:sym typeface="Courier New"/>
              </a:rPr>
              <a:t>const b = metricas(loteB);</a:t>
            </a:r>
            <a:endParaRPr b="0" i="0" sz="1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400"/>
              <a:buFont typeface="Courier New"/>
              <a:buNone/>
            </a:pPr>
            <a:r>
              <a:rPr b="0" i="0" lang="en-US" sz="1400" u="none" cap="none" strike="noStrike">
                <a:solidFill>
                  <a:srgbClr val="E8EDF2"/>
                </a:solidFill>
                <a:latin typeface="Courier New"/>
                <a:ea typeface="Courier New"/>
                <a:cs typeface="Courier New"/>
                <a:sym typeface="Courier New"/>
              </a:rPr>
              <a:t>const ab = metricas([...loteA, ...loteB]);</a:t>
            </a:r>
            <a:endParaRPr b="0" i="0" sz="1400" u="none" cap="none" strike="noStrike">
              <a:solidFill>
                <a:schemeClr val="dk1"/>
              </a:solidFill>
              <a:latin typeface="Calibri"/>
              <a:ea typeface="Calibri"/>
              <a:cs typeface="Calibri"/>
              <a:sym typeface="Calibri"/>
            </a:endParaRPr>
          </a:p>
        </p:txBody>
      </p:sp>
      <p:sp>
        <p:nvSpPr>
          <p:cNvPr id="330" name="Google Shape;330;p22"/>
          <p:cNvSpPr/>
          <p:nvPr/>
        </p:nvSpPr>
        <p:spPr>
          <a:xfrm>
            <a:off x="6217920" y="1600200"/>
            <a:ext cx="5394960" cy="4114800"/>
          </a:xfrm>
          <a:prstGeom prst="roundRect">
            <a:avLst>
              <a:gd fmla="val 2667" name="adj"/>
            </a:avLst>
          </a:prstGeom>
          <a:solidFill>
            <a:srgbClr val="1F2A36"/>
          </a:solidFill>
          <a:ln cap="flat" cmpd="sng" w="12700">
            <a:solidFill>
              <a:srgbClr val="1F2A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2"/>
          <p:cNvSpPr txBox="1"/>
          <p:nvPr/>
        </p:nvSpPr>
        <p:spPr>
          <a:xfrm>
            <a:off x="6492240" y="1828800"/>
            <a:ext cx="4846320" cy="36576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E8EDF2"/>
              </a:buClr>
              <a:buSzPts val="1400"/>
              <a:buFont typeface="Courier New"/>
              <a:buNone/>
            </a:pPr>
            <a:r>
              <a:rPr b="0" i="0" lang="en-US" sz="1400" u="none" cap="none" strike="noStrike">
                <a:solidFill>
                  <a:srgbClr val="E8EDF2"/>
                </a:solidFill>
                <a:latin typeface="Courier New"/>
                <a:ea typeface="Courier New"/>
                <a:cs typeface="Courier New"/>
                <a:sym typeface="Courier New"/>
              </a:rPr>
              <a:t>const a = new LoteDeTransacciones(loteA);</a:t>
            </a:r>
            <a:endParaRPr b="0" i="0" sz="1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400"/>
              <a:buFont typeface="Courier New"/>
              <a:buNone/>
            </a:pPr>
            <a:r>
              <a:rPr b="0" i="0" lang="en-US" sz="1400" u="none" cap="none" strike="noStrike">
                <a:solidFill>
                  <a:srgbClr val="E8EDF2"/>
                </a:solidFill>
                <a:latin typeface="Courier New"/>
                <a:ea typeface="Courier New"/>
                <a:cs typeface="Courier New"/>
                <a:sym typeface="Courier New"/>
              </a:rPr>
              <a:t>const b = new LoteDeTransacciones(loteB);</a:t>
            </a:r>
            <a:endParaRPr b="0" i="0" sz="1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400"/>
              <a:buFont typeface="Courier New"/>
              <a:buNone/>
            </a:pPr>
            <a:r>
              <a:rPr b="0" i="0" lang="en-US" sz="1400" u="none" cap="none" strike="noStrike">
                <a:solidFill>
                  <a:srgbClr val="E8EDF2"/>
                </a:solidFill>
                <a:latin typeface="Courier New"/>
                <a:ea typeface="Courier New"/>
                <a:cs typeface="Courier New"/>
                <a:sym typeface="Courier New"/>
              </a:rPr>
              <a:t>const ab = new LoteDeTransacciones(</a:t>
            </a:r>
            <a:endParaRPr b="0" i="0" sz="1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400"/>
              <a:buFont typeface="Courier New"/>
              <a:buNone/>
            </a:pPr>
            <a:r>
              <a:rPr b="0" i="0" lang="en-US" sz="1400" u="none" cap="none" strike="noStrike">
                <a:solidFill>
                  <a:srgbClr val="E8EDF2"/>
                </a:solidFill>
                <a:latin typeface="Courier New"/>
                <a:ea typeface="Courier New"/>
                <a:cs typeface="Courier New"/>
                <a:sym typeface="Courier New"/>
              </a:rPr>
              <a:t>  [...loteA, ...loteB]</a:t>
            </a:r>
            <a:endParaRPr b="0" i="0" sz="1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400"/>
              <a:buFont typeface="Courier New"/>
              <a:buNone/>
            </a:pPr>
            <a:r>
              <a:rPr b="0" i="0" lang="en-US" sz="1400" u="none" cap="none" strike="noStrike">
                <a:solidFill>
                  <a:srgbClr val="E8EDF2"/>
                </a:solidFill>
                <a:latin typeface="Courier New"/>
                <a:ea typeface="Courier New"/>
                <a:cs typeface="Courier New"/>
                <a:sym typeface="Courier New"/>
              </a:rPr>
              <a:t>);</a:t>
            </a:r>
            <a:endParaRPr b="0" i="0" sz="1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400"/>
              <a:buFont typeface="Courier New"/>
              <a:buNone/>
            </a:pPr>
            <a:r>
              <a:rPr b="0" i="0" lang="en-US" sz="1400" u="none" cap="none" strike="noStrike">
                <a:solidFill>
                  <a:srgbClr val="E8EDF2"/>
                </a:solidFill>
                <a:latin typeface="Courier New"/>
                <a:ea typeface="Courier New"/>
                <a:cs typeface="Courier New"/>
                <a:sym typeface="Courier New"/>
              </a:rPr>
              <a:t> </a:t>
            </a:r>
            <a:endParaRPr b="0" i="0" sz="1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400"/>
              <a:buFont typeface="Courier New"/>
              <a:buNone/>
            </a:pPr>
            <a:r>
              <a:rPr b="0" i="0" lang="en-US" sz="1400" u="none" cap="none" strike="noStrike">
                <a:solidFill>
                  <a:srgbClr val="E8EDF2"/>
                </a:solidFill>
                <a:latin typeface="Courier New"/>
                <a:ea typeface="Courier New"/>
                <a:cs typeface="Courier New"/>
                <a:sym typeface="Courier New"/>
              </a:rPr>
              <a:t>a.totalNetoARS();</a:t>
            </a:r>
            <a:endParaRPr b="0" i="0" sz="1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DF2"/>
              </a:buClr>
              <a:buSzPts val="1400"/>
              <a:buFont typeface="Courier New"/>
              <a:buNone/>
            </a:pPr>
            <a:r>
              <a:rPr b="0" i="0" lang="en-US" sz="1400" u="none" cap="none" strike="noStrike">
                <a:solidFill>
                  <a:srgbClr val="E8EDF2"/>
                </a:solidFill>
                <a:latin typeface="Courier New"/>
                <a:ea typeface="Courier New"/>
                <a:cs typeface="Courier New"/>
                <a:sym typeface="Courier New"/>
              </a:rPr>
              <a:t>ab.promedioARS();</a:t>
            </a:r>
            <a:endParaRPr b="0" i="0" sz="1400" u="none" cap="none" strike="noStrike">
              <a:solidFill>
                <a:schemeClr val="dk1"/>
              </a:solidFill>
              <a:latin typeface="Calibri"/>
              <a:ea typeface="Calibri"/>
              <a:cs typeface="Calibri"/>
              <a:sym typeface="Calibri"/>
            </a:endParaRPr>
          </a:p>
        </p:txBody>
      </p:sp>
      <p:sp>
        <p:nvSpPr>
          <p:cNvPr id="332" name="Google Shape;332;p22"/>
          <p:cNvSpPr txBox="1"/>
          <p:nvPr/>
        </p:nvSpPr>
        <p:spPr>
          <a:xfrm>
            <a:off x="548640" y="5852160"/>
            <a:ext cx="5394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7A"/>
              </a:buClr>
              <a:buSzPts val="1600"/>
              <a:buFont typeface="Calibri"/>
              <a:buNone/>
            </a:pPr>
            <a:r>
              <a:rPr b="0" i="0" lang="en-US" sz="1600" u="none" cap="none" strike="noStrike">
                <a:solidFill>
                  <a:srgbClr val="5B6B7A"/>
                </a:solidFill>
                <a:latin typeface="Calibri"/>
                <a:ea typeface="Calibri"/>
                <a:cs typeface="Calibri"/>
                <a:sym typeface="Calibri"/>
              </a:rPr>
              <a:t>Primero hay que inventar la función; recién después, usarla.</a:t>
            </a:r>
            <a:endParaRPr b="0" i="0" sz="1600" u="none" cap="none" strike="noStrike">
              <a:solidFill>
                <a:schemeClr val="dk1"/>
              </a:solidFill>
              <a:latin typeface="Calibri"/>
              <a:ea typeface="Calibri"/>
              <a:cs typeface="Calibri"/>
              <a:sym typeface="Calibri"/>
            </a:endParaRPr>
          </a:p>
        </p:txBody>
      </p:sp>
      <p:sp>
        <p:nvSpPr>
          <p:cNvPr id="333" name="Google Shape;333;p22"/>
          <p:cNvSpPr txBox="1"/>
          <p:nvPr/>
        </p:nvSpPr>
        <p:spPr>
          <a:xfrm>
            <a:off x="6217920" y="5852160"/>
            <a:ext cx="53949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7A"/>
              </a:buClr>
              <a:buSzPts val="1600"/>
              <a:buFont typeface="Calibri"/>
              <a:buNone/>
            </a:pPr>
            <a:r>
              <a:rPr b="0" i="0" lang="en-US" sz="1600" u="none" cap="none" strike="noStrike">
                <a:solidFill>
                  <a:srgbClr val="5B6B7A"/>
                </a:solidFill>
                <a:latin typeface="Calibri"/>
                <a:ea typeface="Calibri"/>
                <a:cs typeface="Calibri"/>
                <a:sym typeface="Calibri"/>
              </a:rPr>
              <a:t>La clase no se toca: solo se instancia.</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